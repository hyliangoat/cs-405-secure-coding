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3"/>
  </p:notesMasterIdLst>
  <p:sldIdLst>
    <p:sldId id="256" r:id="rId5"/>
    <p:sldId id="257" r:id="rId6"/>
    <p:sldId id="258" r:id="rId7"/>
    <p:sldId id="259" r:id="rId8"/>
    <p:sldId id="260" r:id="rId9"/>
    <p:sldId id="261" r:id="rId10"/>
    <p:sldId id="262" r:id="rId11"/>
    <p:sldId id="263" r:id="rId12"/>
    <p:sldId id="270" r:id="rId13"/>
    <p:sldId id="271" r:id="rId14"/>
    <p:sldId id="272" r:id="rId15"/>
    <p:sldId id="273" r:id="rId16"/>
    <p:sldId id="264" r:id="rId17"/>
    <p:sldId id="265" r:id="rId18"/>
    <p:sldId id="266" r:id="rId19"/>
    <p:sldId id="267" r:id="rId20"/>
    <p:sldId id="268" r:id="rId21"/>
    <p:sldId id="269" r:id="rId22"/>
  </p:sldIdLst>
  <p:sldSz cx="12192000" cy="6858000"/>
  <p:notesSz cx="6858000" cy="9144000"/>
  <p:embeddedFontLst>
    <p:embeddedFont>
      <p:font typeface="Cascadia Mono" panose="020B0609020000020004" pitchFamily="49" charset="0"/>
      <p:regular r:id="rId24"/>
      <p:bold r:id="rId25"/>
      <p:italic r:id="rId26"/>
      <p:boldItalic r:id="rId27"/>
    </p:embeddedFont>
    <p:embeddedFont>
      <p:font typeface="Century Gothic" panose="020B0502020202020204" pitchFamily="34" charset="0"/>
      <p:regular r:id="rId28"/>
      <p:bold r:id="rId29"/>
      <p:italic r:id="rId30"/>
      <p:boldItalic r:id="rId31"/>
    </p:embeddedFont>
  </p:embeddedFontLst>
  <p:custDataLst>
    <p:tags r:id="rId32"/>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3"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284" y="8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33" Type="http://customschemas.google.com/relationships/presentationmetadata" Target="meta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6.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fntdata"/><Relationship Id="rId32" Type="http://schemas.openxmlformats.org/officeDocument/2006/relationships/tags" Target="tags/tag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8.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327285F3-FCCB-2DFB-FA2B-365BD215E213}"/>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036FE068-55E0-0878-567B-306015DA4F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B00C563E-8DE1-776B-BDFE-0AF6001B3A9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55659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3D2EA1DA-0170-4C0E-EB88-CCA050376690}"/>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FDBFDD8A-5B5C-2CD7-5DAB-E51657A915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B35C4854-04C7-48BD-1C50-ABFEAB525D0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791915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5985B591-A95E-DDA0-DD21-074CBDA9690F}"/>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72572297-D8A0-0DE4-E6E9-6A07AE1B51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DCCB32D4-2E9C-2EE6-966B-63A4AF9C596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750952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0738EBE5-A7D5-4479-2006-DD751B4AB09A}"/>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C0B764F1-F3AF-79A5-1233-1C273602DB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435AAE48-54B8-7B1C-0A71-7700AF11819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871040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5" Type="http://schemas.openxmlformats.org/officeDocument/2006/relationships/image" Target="../media/image5.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5.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5" Type="http://schemas.openxmlformats.org/officeDocument/2006/relationships/image" Target="../media/image5.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5" Type="http://schemas.openxmlformats.org/officeDocument/2006/relationships/image" Target="../media/image5.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5" Type="http://schemas.openxmlformats.org/officeDocument/2006/relationships/image" Target="../media/image5.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5" Type="http://schemas.openxmlformats.org/officeDocument/2006/relationships/image" Target="../media/image3.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5.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8" Type="http://schemas.openxmlformats.org/officeDocument/2006/relationships/hyperlink" Target="https://learn.microsoft.com/en-us/visualstudio/ide/configure-c-cpp-advanced-options?view=visualstudio" TargetMode="External"/><Relationship Id="rId3" Type="http://schemas.openxmlformats.org/officeDocument/2006/relationships/notesSlide" Target="../notesSlides/notesSlide18.xml"/><Relationship Id="rId7" Type="http://schemas.openxmlformats.org/officeDocument/2006/relationships/hyperlink" Target="https://codeql.github.com/codeql-query-help/" TargetMode="External"/><Relationship Id="rId2" Type="http://schemas.openxmlformats.org/officeDocument/2006/relationships/slideLayout" Target="../slideLayouts/slideLayout2.xml"/><Relationship Id="rId1" Type="http://schemas.openxmlformats.org/officeDocument/2006/relationships/tags" Target="../tags/tag19.xml"/><Relationship Id="rId6" Type="http://schemas.openxmlformats.org/officeDocument/2006/relationships/hyperlink" Target="https://google.github.io/googletest/primer.html" TargetMode="External"/><Relationship Id="rId5" Type="http://schemas.openxmlformats.org/officeDocument/2006/relationships/hyperlink" Target="https://cmu-sei.github.io/secure-coding-standards/sei-cert-cpp-coding-standard/" TargetMode="External"/><Relationship Id="rId4" Type="http://schemas.openxmlformats.org/officeDocument/2006/relationships/hyperlink" Target="https://doi.org/10.6028/nist.sp.800-218" TargetMode="External"/><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lvl="0" indent="0" algn="l" rtl="0">
              <a:lnSpc>
                <a:spcPct val="70000"/>
              </a:lnSpc>
              <a:spcBef>
                <a:spcPts val="1000"/>
              </a:spcBef>
              <a:spcAft>
                <a:spcPts val="0"/>
              </a:spcAft>
              <a:buClr>
                <a:schemeClr val="lt1"/>
              </a:buClr>
              <a:buSzPts val="1850"/>
              <a:buNone/>
            </a:pPr>
            <a:r>
              <a:rPr lang="en-US" sz="1850" dirty="0"/>
              <a:t>Developer: </a:t>
            </a:r>
            <a:r>
              <a:rPr lang="en-US" sz="1850" i="1" dirty="0"/>
              <a:t>Jordan Purdy</a:t>
            </a:r>
            <a:endParaRPr dirty="0"/>
          </a:p>
          <a:p>
            <a:pPr marL="0" lvl="0" indent="0" algn="l" rtl="0">
              <a:lnSpc>
                <a:spcPct val="70000"/>
              </a:lnSpc>
              <a:spcBef>
                <a:spcPts val="1000"/>
              </a:spcBef>
              <a:spcAft>
                <a:spcPts val="0"/>
              </a:spcAft>
              <a:buClr>
                <a:schemeClr val="lt1"/>
              </a:buClr>
              <a:buSzPts val="1850"/>
              <a:buNone/>
            </a:pPr>
            <a:endParaRPr sz="1850" i="1" dirty="0"/>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OVERVIEW: DEFENSE IN DEPTH</a:t>
            </a:r>
            <a:endParaRPr/>
          </a:p>
        </p:txBody>
      </p:sp>
      <p:sp>
        <p:nvSpPr>
          <p:cNvPr id="152" name="Google Shape;152;p3"/>
          <p:cNvSpPr txBox="1">
            <a:spLocks noGrp="1"/>
          </p:cNvSpPr>
          <p:nvPr>
            <p:ph type="body" idx="1"/>
          </p:nvPr>
        </p:nvSpPr>
        <p:spPr>
          <a:xfrm>
            <a:off x="685800" y="2194560"/>
            <a:ext cx="2975994" cy="4024125"/>
          </a:xfrm>
          <a:prstGeom prst="rect">
            <a:avLst/>
          </a:prstGeom>
          <a:noFill/>
          <a:ln>
            <a:noFill/>
          </a:ln>
        </p:spPr>
        <p:txBody>
          <a:bodyPr spcFirstLastPara="1" wrap="square" lIns="91425" tIns="45700" rIns="91425" bIns="45700" anchor="t" anchorCtr="0">
            <a:normAutofit fontScale="70000" lnSpcReduction="20000"/>
          </a:bodyPr>
          <a:lstStyle/>
          <a:p>
            <a:pPr marL="0" lvl="0" indent="0" algn="l" rtl="0">
              <a:lnSpc>
                <a:spcPct val="90000"/>
              </a:lnSpc>
              <a:spcBef>
                <a:spcPts val="1000"/>
              </a:spcBef>
              <a:spcAft>
                <a:spcPts val="0"/>
              </a:spcAft>
              <a:buClr>
                <a:schemeClr val="lt1"/>
              </a:buClr>
              <a:buSzPts val="2200"/>
              <a:buNone/>
            </a:pPr>
            <a:r>
              <a:rPr lang="en-US" b="1" dirty="0"/>
              <a:t>Purpose of the Policy</a:t>
            </a:r>
          </a:p>
          <a:p>
            <a:pPr marL="342900">
              <a:buSzPts val="2200"/>
            </a:pPr>
            <a:r>
              <a:rPr lang="en-US" dirty="0"/>
              <a:t>Standardize</a:t>
            </a:r>
          </a:p>
          <a:p>
            <a:pPr marL="342900">
              <a:buSzPts val="2200"/>
            </a:pPr>
            <a:r>
              <a:rPr lang="en-US" dirty="0"/>
              <a:t>Reduce attack surface</a:t>
            </a:r>
          </a:p>
          <a:p>
            <a:pPr marL="342900">
              <a:buSzPts val="2200"/>
            </a:pPr>
            <a:r>
              <a:rPr lang="en-US" dirty="0"/>
              <a:t>Assume vulnerabilities at any layer</a:t>
            </a:r>
          </a:p>
          <a:p>
            <a:pPr marL="342900">
              <a:buSzPts val="2200"/>
            </a:pPr>
            <a:r>
              <a:rPr lang="en-US" dirty="0"/>
              <a:t>Apply multiple controls</a:t>
            </a:r>
          </a:p>
          <a:p>
            <a:pPr marL="342900">
              <a:buSzPts val="2200"/>
            </a:pPr>
            <a:r>
              <a:rPr lang="en-US" dirty="0"/>
              <a:t>Integrate security through </a:t>
            </a:r>
            <a:r>
              <a:rPr lang="en-US" dirty="0" err="1"/>
              <a:t>DevSecOps</a:t>
            </a:r>
            <a:endParaRPr lang="en-US" dirty="0"/>
          </a:p>
          <a:p>
            <a:pPr marL="0" indent="0">
              <a:buSzPts val="2200"/>
              <a:buNone/>
            </a:pPr>
            <a:r>
              <a:rPr lang="en-US" b="1" dirty="0"/>
              <a:t>Defense in Depth (</a:t>
            </a:r>
            <a:r>
              <a:rPr lang="en-US" b="1" dirty="0" err="1"/>
              <a:t>DiD</a:t>
            </a:r>
            <a:r>
              <a:rPr lang="en-US" b="1" dirty="0"/>
              <a:t>)</a:t>
            </a:r>
          </a:p>
          <a:p>
            <a:pPr marL="342900">
              <a:buSzPts val="2200"/>
            </a:pPr>
            <a:r>
              <a:rPr lang="en-US" dirty="0"/>
              <a:t>Prevention</a:t>
            </a:r>
          </a:p>
          <a:p>
            <a:pPr marL="342900">
              <a:buSzPts val="2200"/>
            </a:pPr>
            <a:r>
              <a:rPr lang="en-US" dirty="0"/>
              <a:t>Detection</a:t>
            </a:r>
          </a:p>
          <a:p>
            <a:pPr marL="342900">
              <a:buSzPts val="2200"/>
            </a:pPr>
            <a:r>
              <a:rPr lang="en-US" dirty="0"/>
              <a:t>Response</a:t>
            </a:r>
          </a:p>
          <a:p>
            <a:pPr marL="342900">
              <a:buSzPts val="2200"/>
            </a:pPr>
            <a:r>
              <a:rPr lang="en-US" dirty="0"/>
              <a:t>Continuous Improvement</a:t>
            </a:r>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4792301" y="2217942"/>
            <a:ext cx="6453257" cy="3797196"/>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THREATS MATRIX</a:t>
            </a:r>
            <a:endParaRPr dirty="0"/>
          </a:p>
        </p:txBody>
      </p:sp>
      <p:sp>
        <p:nvSpPr>
          <p:cNvPr id="160" name="Google Shape;160;p4"/>
          <p:cNvSpPr txBox="1">
            <a:spLocks noGrp="1"/>
          </p:cNvSpPr>
          <p:nvPr>
            <p:ph type="body" idx="1"/>
          </p:nvPr>
        </p:nvSpPr>
        <p:spPr>
          <a:xfrm>
            <a:off x="188752" y="2194550"/>
            <a:ext cx="2906199" cy="2746566"/>
          </a:xfrm>
          <a:prstGeom prst="rect">
            <a:avLst/>
          </a:prstGeom>
          <a:noFill/>
          <a:ln>
            <a:noFill/>
          </a:ln>
        </p:spPr>
        <p:txBody>
          <a:bodyPr spcFirstLastPara="1" wrap="square" lIns="91425" tIns="45700" rIns="91425" bIns="45700" anchor="t" anchorCtr="0">
            <a:normAutofit lnSpcReduction="10000"/>
          </a:bodyPr>
          <a:lstStyle/>
          <a:p>
            <a:pPr marL="228600" lvl="0" indent="-88900" algn="l" rtl="0">
              <a:lnSpc>
                <a:spcPct val="90000"/>
              </a:lnSpc>
              <a:spcBef>
                <a:spcPts val="1000"/>
              </a:spcBef>
              <a:spcAft>
                <a:spcPts val="0"/>
              </a:spcAft>
              <a:buClr>
                <a:schemeClr val="lt1"/>
              </a:buClr>
              <a:buSzPts val="2200"/>
              <a:buNone/>
            </a:pPr>
            <a:r>
              <a:rPr lang="en-US" b="1" dirty="0"/>
              <a:t>Priority is based on</a:t>
            </a:r>
          </a:p>
          <a:p>
            <a:pPr marL="482600">
              <a:buSzPts val="2200"/>
            </a:pPr>
            <a:r>
              <a:rPr lang="en-US" dirty="0"/>
              <a:t>Severity</a:t>
            </a:r>
          </a:p>
          <a:p>
            <a:pPr marL="482600">
              <a:buSzPts val="2200"/>
            </a:pPr>
            <a:r>
              <a:rPr lang="en-US" dirty="0"/>
              <a:t>Likelihood</a:t>
            </a:r>
          </a:p>
          <a:p>
            <a:pPr marL="482600">
              <a:buSzPts val="2200"/>
            </a:pPr>
            <a:r>
              <a:rPr lang="en-US" dirty="0"/>
              <a:t>Remediation Cost</a:t>
            </a:r>
          </a:p>
          <a:p>
            <a:pPr marL="482600">
              <a:buSzPts val="2200"/>
            </a:pPr>
            <a:r>
              <a:rPr lang="en-US" dirty="0"/>
              <a:t>Potential impact</a:t>
            </a:r>
          </a:p>
        </p:txBody>
      </p:sp>
      <p:graphicFrame>
        <p:nvGraphicFramePr>
          <p:cNvPr id="161" name="Google Shape;161;p4" descr="Alt text required"/>
          <p:cNvGraphicFramePr/>
          <p:nvPr>
            <p:extLst>
              <p:ext uri="{D42A27DB-BD31-4B8C-83A1-F6EECF244321}">
                <p14:modId xmlns:p14="http://schemas.microsoft.com/office/powerpoint/2010/main" val="837056731"/>
              </p:ext>
            </p:extLst>
          </p:nvPr>
        </p:nvGraphicFramePr>
        <p:xfrm>
          <a:off x="3171900" y="2561050"/>
          <a:ext cx="7835225" cy="4085775"/>
        </p:xfrm>
        <a:graphic>
          <a:graphicData uri="http://schemas.openxmlformats.org/drawingml/2006/table">
            <a:tbl>
              <a:tblPr firstRow="1" firstCol="1">
                <a:noFill/>
                <a:tableStyleId>{802198C4-3087-4945-87E3-76CBB3509B7E}</a:tableStyleId>
              </a:tblPr>
              <a:tblGrid>
                <a:gridCol w="4030425">
                  <a:extLst>
                    <a:ext uri="{9D8B030D-6E8A-4147-A177-3AD203B41FA5}">
                      <a16:colId xmlns:a16="http://schemas.microsoft.com/office/drawing/2014/main" val="20000"/>
                    </a:ext>
                  </a:extLst>
                </a:gridCol>
                <a:gridCol w="3804800">
                  <a:extLst>
                    <a:ext uri="{9D8B030D-6E8A-4147-A177-3AD203B41FA5}">
                      <a16:colId xmlns:a16="http://schemas.microsoft.com/office/drawing/2014/main" val="20001"/>
                    </a:ext>
                  </a:extLst>
                </a:gridCol>
              </a:tblGrid>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1800" b="1" u="none" strike="noStrike" cap="none" dirty="0">
                          <a:solidFill>
                            <a:srgbClr val="FFD966"/>
                          </a:solidFill>
                        </a:rPr>
                        <a:t>Likely</a:t>
                      </a:r>
                    </a:p>
                    <a:p>
                      <a:pPr marL="342900" marR="0" lvl="0" indent="-342900" algn="l" rtl="0">
                        <a:lnSpc>
                          <a:spcPct val="100000"/>
                        </a:lnSpc>
                        <a:spcBef>
                          <a:spcPts val="0"/>
                        </a:spcBef>
                        <a:spcAft>
                          <a:spcPts val="0"/>
                        </a:spcAft>
                        <a:buClr>
                          <a:srgbClr val="000000"/>
                        </a:buClr>
                        <a:buSzPts val="3600"/>
                        <a:buFont typeface="Arial" panose="020B0604020202020204" pitchFamily="34" charset="0"/>
                        <a:buChar char="•"/>
                      </a:pPr>
                      <a:r>
                        <a:rPr lang="en-US" sz="1800" b="0" u="none" strike="noStrike" cap="none" dirty="0">
                          <a:solidFill>
                            <a:srgbClr val="FFD966"/>
                          </a:solidFill>
                        </a:rPr>
                        <a:t>STD- 002-CPP – Data Value</a:t>
                      </a:r>
                    </a:p>
                    <a:p>
                      <a:pPr marL="342900" marR="0" lvl="0" indent="-342900" algn="l" rtl="0">
                        <a:lnSpc>
                          <a:spcPct val="100000"/>
                        </a:lnSpc>
                        <a:spcBef>
                          <a:spcPts val="0"/>
                        </a:spcBef>
                        <a:spcAft>
                          <a:spcPts val="0"/>
                        </a:spcAft>
                        <a:buClr>
                          <a:srgbClr val="000000"/>
                        </a:buClr>
                        <a:buSzPts val="3600"/>
                        <a:buFont typeface="Arial" panose="020B0604020202020204" pitchFamily="34" charset="0"/>
                        <a:buChar char="•"/>
                      </a:pPr>
                      <a:r>
                        <a:rPr lang="en-US" sz="1800" b="0" u="none" strike="noStrike" cap="none" dirty="0">
                          <a:solidFill>
                            <a:srgbClr val="FFD966"/>
                          </a:solidFill>
                        </a:rPr>
                        <a:t>STD-003-CPP – String Correctness</a:t>
                      </a:r>
                    </a:p>
                    <a:p>
                      <a:pPr marL="342900" marR="0" lvl="0" indent="-342900" algn="l" rtl="0">
                        <a:lnSpc>
                          <a:spcPct val="100000"/>
                        </a:lnSpc>
                        <a:spcBef>
                          <a:spcPts val="0"/>
                        </a:spcBef>
                        <a:spcAft>
                          <a:spcPts val="0"/>
                        </a:spcAft>
                        <a:buClr>
                          <a:srgbClr val="000000"/>
                        </a:buClr>
                        <a:buSzPts val="3600"/>
                        <a:buFont typeface="Arial" panose="020B0604020202020204" pitchFamily="34" charset="0"/>
                        <a:buChar char="•"/>
                      </a:pPr>
                      <a:r>
                        <a:rPr lang="en-US" sz="1800" b="0" u="none" strike="noStrike" cap="none" dirty="0">
                          <a:solidFill>
                            <a:srgbClr val="FFD966"/>
                          </a:solidFill>
                        </a:rPr>
                        <a:t>STD-008-CPP – Integer Arithmetic</a:t>
                      </a:r>
                    </a:p>
                    <a:p>
                      <a:pPr marL="342900" marR="0" lvl="0" indent="-342900" algn="l" rtl="0">
                        <a:lnSpc>
                          <a:spcPct val="100000"/>
                        </a:lnSpc>
                        <a:spcBef>
                          <a:spcPts val="0"/>
                        </a:spcBef>
                        <a:spcAft>
                          <a:spcPts val="0"/>
                        </a:spcAft>
                        <a:buClr>
                          <a:srgbClr val="000000"/>
                        </a:buClr>
                        <a:buSzPts val="3600"/>
                        <a:buFont typeface="Arial" panose="020B0604020202020204" pitchFamily="34" charset="0"/>
                        <a:buChar char="•"/>
                      </a:pPr>
                      <a:r>
                        <a:rPr lang="en-US" sz="1800" b="0" u="none" strike="noStrike" cap="none" dirty="0">
                          <a:solidFill>
                            <a:srgbClr val="FFD966"/>
                          </a:solidFill>
                        </a:rPr>
                        <a:t>STD-010-CPP – File handling</a:t>
                      </a:r>
                    </a:p>
                    <a:p>
                      <a:pPr marL="0" marR="0" lvl="0" indent="0" algn="ctr" rtl="0">
                        <a:lnSpc>
                          <a:spcPct val="100000"/>
                        </a:lnSpc>
                        <a:spcBef>
                          <a:spcPts val="0"/>
                        </a:spcBef>
                        <a:spcAft>
                          <a:spcPts val="0"/>
                        </a:spcAft>
                        <a:buClr>
                          <a:srgbClr val="000000"/>
                        </a:buClr>
                        <a:buSzPts val="3600"/>
                        <a:buFont typeface="Arial"/>
                        <a:buNone/>
                      </a:pPr>
                      <a:endParaRPr sz="14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1800" b="1" u="none" strike="noStrike" cap="none" dirty="0">
                          <a:solidFill>
                            <a:srgbClr val="FFD966"/>
                          </a:solidFill>
                        </a:rPr>
                        <a:t>Priority</a:t>
                      </a:r>
                    </a:p>
                    <a:p>
                      <a:pPr marL="285750" marR="0" lvl="0" indent="-285750" algn="l" rtl="0">
                        <a:lnSpc>
                          <a:spcPct val="100000"/>
                        </a:lnSpc>
                        <a:spcBef>
                          <a:spcPts val="0"/>
                        </a:spcBef>
                        <a:spcAft>
                          <a:spcPts val="0"/>
                        </a:spcAft>
                        <a:buClr>
                          <a:srgbClr val="000000"/>
                        </a:buClr>
                        <a:buSzPts val="3600"/>
                        <a:buFont typeface="Arial" panose="020B0604020202020204" pitchFamily="34" charset="0"/>
                        <a:buChar char="•"/>
                      </a:pPr>
                      <a:r>
                        <a:rPr lang="en-US" sz="1800" b="0" u="none" strike="noStrike" cap="none" dirty="0">
                          <a:solidFill>
                            <a:srgbClr val="FFD966"/>
                          </a:solidFill>
                        </a:rPr>
                        <a:t>STD-004-CPP - SQL Injection</a:t>
                      </a:r>
                    </a:p>
                    <a:p>
                      <a:pPr marL="285750" marR="0" lvl="0" indent="-285750" algn="l" rtl="0">
                        <a:lnSpc>
                          <a:spcPct val="100000"/>
                        </a:lnSpc>
                        <a:spcBef>
                          <a:spcPts val="0"/>
                        </a:spcBef>
                        <a:spcAft>
                          <a:spcPts val="0"/>
                        </a:spcAft>
                        <a:buClr>
                          <a:srgbClr val="000000"/>
                        </a:buClr>
                        <a:buSzPts val="3600"/>
                        <a:buFont typeface="Arial" panose="020B0604020202020204" pitchFamily="34" charset="0"/>
                        <a:buChar char="•"/>
                      </a:pPr>
                      <a:r>
                        <a:rPr lang="en-US" sz="1800" b="0" u="none" strike="noStrike" cap="none" dirty="0">
                          <a:solidFill>
                            <a:srgbClr val="FFD966"/>
                          </a:solidFill>
                        </a:rPr>
                        <a:t>STD-005-CPP – Memory Protection</a:t>
                      </a:r>
                    </a:p>
                    <a:p>
                      <a:pPr marL="285750" marR="0" lvl="0" indent="-285750" algn="l" rtl="0">
                        <a:lnSpc>
                          <a:spcPct val="100000"/>
                        </a:lnSpc>
                        <a:spcBef>
                          <a:spcPts val="0"/>
                        </a:spcBef>
                        <a:spcAft>
                          <a:spcPts val="0"/>
                        </a:spcAft>
                        <a:buClr>
                          <a:srgbClr val="000000"/>
                        </a:buClr>
                        <a:buSzPts val="3600"/>
                        <a:buFont typeface="Arial" panose="020B0604020202020204" pitchFamily="34" charset="0"/>
                        <a:buChar char="•"/>
                      </a:pPr>
                      <a:r>
                        <a:rPr lang="en-US" sz="1800" b="0" u="none" strike="noStrike" cap="none" dirty="0">
                          <a:solidFill>
                            <a:srgbClr val="FFD966"/>
                          </a:solidFill>
                        </a:rPr>
                        <a:t>STD-009-CPP – Pointer Safety</a:t>
                      </a:r>
                    </a:p>
                    <a:p>
                      <a:pPr marL="285750" marR="0" lvl="0" indent="-285750" algn="ctr" rtl="0">
                        <a:lnSpc>
                          <a:spcPct val="100000"/>
                        </a:lnSpc>
                        <a:spcBef>
                          <a:spcPts val="0"/>
                        </a:spcBef>
                        <a:spcAft>
                          <a:spcPts val="0"/>
                        </a:spcAft>
                        <a:buClr>
                          <a:srgbClr val="000000"/>
                        </a:buClr>
                        <a:buSzPts val="3600"/>
                        <a:buFont typeface="Arial" panose="020B0604020202020204" pitchFamily="34" charset="0"/>
                        <a:buChar char="•"/>
                      </a:pPr>
                      <a:endParaRPr lang="en-US" sz="1800" b="0" u="none" strike="noStrike" cap="none" dirty="0">
                        <a:solidFill>
                          <a:srgbClr val="FFD966"/>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1800" b="1" u="none" strike="noStrike" cap="none" dirty="0">
                          <a:solidFill>
                            <a:srgbClr val="FFD966"/>
                          </a:solidFill>
                        </a:rPr>
                        <a:t>Low priority</a:t>
                      </a:r>
                      <a:endParaRPr sz="1800" b="1" u="none" strike="noStrike" cap="none" dirty="0"/>
                    </a:p>
                    <a:p>
                      <a:pPr marL="285750" marR="0" lvl="0" indent="-285750" algn="l" rtl="0">
                        <a:lnSpc>
                          <a:spcPct val="100000"/>
                        </a:lnSpc>
                        <a:spcBef>
                          <a:spcPts val="0"/>
                        </a:spcBef>
                        <a:spcAft>
                          <a:spcPts val="0"/>
                        </a:spcAft>
                        <a:buClr>
                          <a:srgbClr val="000000"/>
                        </a:buClr>
                        <a:buSzPts val="3600"/>
                        <a:buFont typeface="Arial" panose="020B0604020202020204" pitchFamily="34" charset="0"/>
                        <a:buChar char="•"/>
                      </a:pPr>
                      <a:r>
                        <a:rPr lang="en-US" sz="1800" u="none" strike="noStrike" cap="none" dirty="0">
                          <a:solidFill>
                            <a:srgbClr val="FFD966"/>
                          </a:solidFill>
                        </a:rPr>
                        <a:t>STD-006-CPP – Assertions</a:t>
                      </a:r>
                    </a:p>
                    <a:p>
                      <a:pPr marL="285750" marR="0" lvl="0" indent="-285750" algn="l" rtl="0">
                        <a:lnSpc>
                          <a:spcPct val="100000"/>
                        </a:lnSpc>
                        <a:spcBef>
                          <a:spcPts val="0"/>
                        </a:spcBef>
                        <a:spcAft>
                          <a:spcPts val="0"/>
                        </a:spcAft>
                        <a:buClr>
                          <a:srgbClr val="000000"/>
                        </a:buClr>
                        <a:buSzPts val="3600"/>
                        <a:buFont typeface="Arial" panose="020B0604020202020204" pitchFamily="34" charset="0"/>
                        <a:buChar char="•"/>
                      </a:pPr>
                      <a:r>
                        <a:rPr lang="en-US" sz="1800" u="none" strike="noStrike" cap="none" dirty="0">
                          <a:solidFill>
                            <a:srgbClr val="FFD966"/>
                          </a:solidFill>
                        </a:rPr>
                        <a:t>STD-007-CPP - Exceptions</a:t>
                      </a:r>
                      <a:endParaRPr sz="18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1800" b="1" u="none" strike="noStrike" cap="none" dirty="0">
                          <a:solidFill>
                            <a:srgbClr val="FFD966"/>
                          </a:solidFill>
                        </a:rPr>
                        <a:t>Unlikely</a:t>
                      </a:r>
                      <a:endParaRPr sz="1800" b="1" u="none" strike="noStrike" cap="none" dirty="0"/>
                    </a:p>
                    <a:p>
                      <a:pPr marL="285750" marR="0" lvl="0" indent="-285750" algn="ctr" rtl="0">
                        <a:lnSpc>
                          <a:spcPct val="100000"/>
                        </a:lnSpc>
                        <a:spcBef>
                          <a:spcPts val="0"/>
                        </a:spcBef>
                        <a:spcAft>
                          <a:spcPts val="0"/>
                        </a:spcAft>
                        <a:buClr>
                          <a:srgbClr val="000000"/>
                        </a:buClr>
                        <a:buSzPts val="3600"/>
                        <a:buFont typeface="Arial" panose="020B0604020202020204" pitchFamily="34" charset="0"/>
                        <a:buChar char="•"/>
                      </a:pPr>
                      <a:r>
                        <a:rPr lang="en-US" sz="1800" u="none" strike="noStrike" cap="none" dirty="0">
                          <a:solidFill>
                            <a:srgbClr val="FFD966"/>
                          </a:solidFill>
                        </a:rPr>
                        <a:t>STD-001-CPP – Data Type</a:t>
                      </a:r>
                      <a:endParaRPr sz="18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sp>
        <p:nvSpPr>
          <p:cNvPr id="168" name="Google Shape;168;p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lvl="0" indent="-457200">
              <a:spcBef>
                <a:spcPts val="0"/>
              </a:spcBef>
              <a:buSzPts val="2200"/>
              <a:buFont typeface="+mj-lt"/>
              <a:buAutoNum type="arabicPeriod"/>
            </a:pPr>
            <a:r>
              <a:rPr lang="en-US" b="1" dirty="0"/>
              <a:t>Validate Input Data</a:t>
            </a:r>
            <a:r>
              <a:rPr lang="en-US" dirty="0"/>
              <a:t> — STD-002, 003, 004, 006, 008, 009, 010</a:t>
            </a:r>
          </a:p>
          <a:p>
            <a:pPr lvl="0" indent="-457200">
              <a:spcBef>
                <a:spcPts val="0"/>
              </a:spcBef>
              <a:buSzPts val="2200"/>
              <a:buFont typeface="+mj-lt"/>
              <a:buAutoNum type="arabicPeriod"/>
            </a:pPr>
            <a:r>
              <a:rPr lang="en-US" b="1" dirty="0"/>
              <a:t>Heed Compiler Warnings</a:t>
            </a:r>
            <a:r>
              <a:rPr lang="en-US" dirty="0"/>
              <a:t> — STD-001, 008</a:t>
            </a:r>
          </a:p>
          <a:p>
            <a:pPr lvl="0" indent="-457200">
              <a:spcBef>
                <a:spcPts val="0"/>
              </a:spcBef>
              <a:buSzPts val="2200"/>
              <a:buFont typeface="+mj-lt"/>
              <a:buAutoNum type="arabicPeriod"/>
            </a:pPr>
            <a:r>
              <a:rPr lang="en-US" b="1" dirty="0"/>
              <a:t>Architect and Design for Security</a:t>
            </a:r>
            <a:r>
              <a:rPr lang="en-US" dirty="0"/>
              <a:t> — STD-004, 005, 010</a:t>
            </a:r>
          </a:p>
          <a:p>
            <a:pPr lvl="0" indent="-457200">
              <a:spcBef>
                <a:spcPts val="0"/>
              </a:spcBef>
              <a:buSzPts val="2200"/>
              <a:buFont typeface="+mj-lt"/>
              <a:buAutoNum type="arabicPeriod"/>
            </a:pPr>
            <a:r>
              <a:rPr lang="en-US" b="1" dirty="0"/>
              <a:t>Keep It Simple</a:t>
            </a:r>
            <a:r>
              <a:rPr lang="en-US" dirty="0"/>
              <a:t> — STD-003, 005, 006, 007, 009</a:t>
            </a:r>
          </a:p>
          <a:p>
            <a:pPr lvl="0" indent="-457200">
              <a:spcBef>
                <a:spcPts val="0"/>
              </a:spcBef>
              <a:buSzPts val="2200"/>
              <a:buFont typeface="+mj-lt"/>
              <a:buAutoNum type="arabicPeriod"/>
            </a:pPr>
            <a:r>
              <a:rPr lang="en-US" b="1" dirty="0"/>
              <a:t>Default Deny</a:t>
            </a:r>
            <a:r>
              <a:rPr lang="en-US" dirty="0"/>
              <a:t> — STD-004, 010</a:t>
            </a:r>
          </a:p>
          <a:p>
            <a:pPr lvl="0" indent="-457200">
              <a:spcBef>
                <a:spcPts val="0"/>
              </a:spcBef>
              <a:buSzPts val="2200"/>
              <a:buFont typeface="+mj-lt"/>
              <a:buAutoNum type="arabicPeriod"/>
            </a:pPr>
            <a:r>
              <a:rPr lang="en-US" b="1" dirty="0"/>
              <a:t>Least Privilege</a:t>
            </a:r>
            <a:r>
              <a:rPr lang="en-US" dirty="0"/>
              <a:t> — STD-010</a:t>
            </a:r>
          </a:p>
          <a:p>
            <a:pPr lvl="0" indent="-457200">
              <a:spcBef>
                <a:spcPts val="0"/>
              </a:spcBef>
              <a:buSzPts val="2200"/>
              <a:buFont typeface="+mj-lt"/>
              <a:buAutoNum type="arabicPeriod"/>
            </a:pPr>
            <a:r>
              <a:rPr lang="en-US" b="1" dirty="0"/>
              <a:t>Sanitize Data Sent to Other Systems</a:t>
            </a:r>
            <a:r>
              <a:rPr lang="en-US" dirty="0"/>
              <a:t> — STD-004, 010</a:t>
            </a:r>
          </a:p>
          <a:p>
            <a:pPr lvl="0" indent="-457200">
              <a:spcBef>
                <a:spcPts val="0"/>
              </a:spcBef>
              <a:buSzPts val="2200"/>
              <a:buFont typeface="+mj-lt"/>
              <a:buAutoNum type="arabicPeriod"/>
            </a:pPr>
            <a:r>
              <a:rPr lang="en-US" b="1" dirty="0"/>
              <a:t>Practice Defense in Depth</a:t>
            </a:r>
            <a:r>
              <a:rPr lang="en-US" dirty="0"/>
              <a:t> — STD-002 through STD-010</a:t>
            </a:r>
          </a:p>
          <a:p>
            <a:pPr lvl="0" indent="-457200">
              <a:spcBef>
                <a:spcPts val="0"/>
              </a:spcBef>
              <a:buSzPts val="2200"/>
              <a:buFont typeface="+mj-lt"/>
              <a:buAutoNum type="arabicPeriod"/>
            </a:pPr>
            <a:r>
              <a:rPr lang="en-US" b="1" dirty="0"/>
              <a:t>Use Effective QA Techniques</a:t>
            </a:r>
            <a:r>
              <a:rPr lang="en-US" dirty="0"/>
              <a:t> — STD-001, 002, 005, 006, 007, 008, 009</a:t>
            </a:r>
          </a:p>
          <a:p>
            <a:pPr lvl="0" indent="-457200">
              <a:spcBef>
                <a:spcPts val="0"/>
              </a:spcBef>
              <a:buSzPts val="2200"/>
              <a:buFont typeface="+mj-lt"/>
              <a:buAutoNum type="arabicPeriod"/>
            </a:pPr>
            <a:r>
              <a:rPr lang="en-US" b="1" dirty="0"/>
              <a:t>Adopt a Secure Coding Standard</a:t>
            </a:r>
            <a:r>
              <a:rPr lang="en-US" dirty="0"/>
              <a:t> — All ten standards</a:t>
            </a:r>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sp>
        <p:nvSpPr>
          <p:cNvPr id="175" name="Google Shape;175;p6"/>
          <p:cNvSpPr txBox="1">
            <a:spLocks noGrp="1"/>
          </p:cNvSpPr>
          <p:nvPr>
            <p:ph type="body" idx="1"/>
          </p:nvPr>
        </p:nvSpPr>
        <p:spPr>
          <a:xfrm>
            <a:off x="685800" y="2194560"/>
            <a:ext cx="3898783" cy="3279257"/>
          </a:xfrm>
          <a:prstGeom prst="rect">
            <a:avLst/>
          </a:prstGeom>
          <a:noFill/>
          <a:ln>
            <a:noFill/>
          </a:ln>
        </p:spPr>
        <p:txBody>
          <a:bodyPr spcFirstLastPara="1" wrap="square" lIns="91425" tIns="45700" rIns="91425" bIns="45700" anchor="t" anchorCtr="0">
            <a:normAutofit fontScale="77500" lnSpcReduction="20000"/>
          </a:bodyPr>
          <a:lstStyle/>
          <a:p>
            <a:r>
              <a:rPr lang="en-US" b="1" dirty="0"/>
              <a:t>Priority 5</a:t>
            </a:r>
            <a:endParaRPr lang="en-US" dirty="0"/>
          </a:p>
          <a:p>
            <a:pPr marL="114300" lvl="0" indent="0">
              <a:buNone/>
            </a:pPr>
            <a:r>
              <a:rPr lang="en-US" dirty="0"/>
              <a:t>STD-004-CPP — SQL Injection </a:t>
            </a:r>
          </a:p>
          <a:p>
            <a:pPr marL="114300" lvl="0" indent="0">
              <a:buNone/>
            </a:pPr>
            <a:r>
              <a:rPr lang="en-US" dirty="0"/>
              <a:t>STD-005-CPP — Memory Protection </a:t>
            </a:r>
          </a:p>
          <a:p>
            <a:pPr marL="114300" lvl="0" indent="0">
              <a:buNone/>
            </a:pPr>
            <a:r>
              <a:rPr lang="en-US" dirty="0"/>
              <a:t>STD-009-CPP — Pointer Safety </a:t>
            </a:r>
          </a:p>
          <a:p>
            <a:r>
              <a:rPr lang="en-US" b="1" dirty="0"/>
              <a:t>Priority 4</a:t>
            </a:r>
          </a:p>
          <a:p>
            <a:pPr marL="114300" indent="0">
              <a:buNone/>
            </a:pPr>
            <a:r>
              <a:rPr lang="en-US" dirty="0"/>
              <a:t>STD-003-CPP — String Correctness</a:t>
            </a:r>
            <a:br>
              <a:rPr lang="en-US" dirty="0"/>
            </a:br>
            <a:r>
              <a:rPr lang="en-US" dirty="0"/>
              <a:t>STD-008-CPP — Integer Arithmetic</a:t>
            </a:r>
            <a:br>
              <a:rPr lang="en-US" dirty="0"/>
            </a:br>
            <a:r>
              <a:rPr lang="en-US" dirty="0"/>
              <a:t>STD-002-CPP — Data Value</a:t>
            </a:r>
            <a:br>
              <a:rPr lang="en-US" dirty="0"/>
            </a:br>
            <a:r>
              <a:rPr lang="en-US" dirty="0"/>
              <a:t>STD-010-CPP — File Handling</a:t>
            </a:r>
          </a:p>
          <a:p>
            <a:pPr marL="0" lvl="0" indent="0" algn="l" rtl="0">
              <a:lnSpc>
                <a:spcPct val="90000"/>
              </a:lnSpc>
              <a:spcBef>
                <a:spcPts val="0"/>
              </a:spcBef>
              <a:spcAft>
                <a:spcPts val="0"/>
              </a:spcAft>
              <a:buClr>
                <a:schemeClr val="lt1"/>
              </a:buClr>
              <a:buSzPts val="2000"/>
              <a:buNone/>
            </a:pPr>
            <a:endParaRPr dirty="0"/>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2" name="Google Shape;175;p6">
            <a:extLst>
              <a:ext uri="{FF2B5EF4-FFF2-40B4-BE49-F238E27FC236}">
                <a16:creationId xmlns:a16="http://schemas.microsoft.com/office/drawing/2014/main" id="{C69A1610-6D64-CEE2-3FA8-07BEC2F91DF9}"/>
              </a:ext>
            </a:extLst>
          </p:cNvPr>
          <p:cNvSpPr txBox="1">
            <a:spLocks/>
          </p:cNvSpPr>
          <p:nvPr/>
        </p:nvSpPr>
        <p:spPr>
          <a:xfrm>
            <a:off x="6244904" y="2194559"/>
            <a:ext cx="3898783" cy="3279257"/>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lt1"/>
              </a:buClr>
              <a:buSzPts val="18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42900" algn="l" rtl="0">
              <a:lnSpc>
                <a:spcPct val="90000"/>
              </a:lnSpc>
              <a:spcBef>
                <a:spcPts val="500"/>
              </a:spcBef>
              <a:spcAft>
                <a:spcPts val="0"/>
              </a:spcAft>
              <a:buClr>
                <a:schemeClr val="lt1"/>
              </a:buClr>
              <a:buSzPts val="18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9pPr>
          </a:lstStyle>
          <a:p>
            <a:r>
              <a:rPr lang="en-US" b="1" dirty="0"/>
              <a:t>Priority 3</a:t>
            </a:r>
          </a:p>
          <a:p>
            <a:pPr marL="114300" indent="0">
              <a:buFont typeface="Arial"/>
              <a:buNone/>
            </a:pPr>
            <a:r>
              <a:rPr lang="en-US" dirty="0"/>
              <a:t>STD-006-CPP — Assertions</a:t>
            </a:r>
            <a:br>
              <a:rPr lang="en-US" dirty="0"/>
            </a:br>
            <a:r>
              <a:rPr lang="en-US" dirty="0"/>
              <a:t>STD-007-CPP — Exceptions</a:t>
            </a:r>
          </a:p>
          <a:p>
            <a:r>
              <a:rPr lang="en-US" b="1" dirty="0"/>
              <a:t>Priority 2</a:t>
            </a:r>
          </a:p>
          <a:p>
            <a:pPr marL="114300" indent="0">
              <a:buFont typeface="Arial"/>
              <a:buNone/>
            </a:pPr>
            <a:r>
              <a:rPr lang="en-US" dirty="0"/>
              <a:t>STD-001-CPP — Data Type</a:t>
            </a:r>
          </a:p>
          <a:p>
            <a:pPr marL="0" indent="0">
              <a:spcBef>
                <a:spcPts val="0"/>
              </a:spcBef>
              <a:buSzPts val="2000"/>
              <a:buFont typeface="Arial"/>
              <a:buNone/>
            </a:pPr>
            <a:endParaRPr lang="en-US" dirty="0"/>
          </a:p>
        </p:txBody>
      </p:sp>
      <p:sp>
        <p:nvSpPr>
          <p:cNvPr id="5" name="Google Shape;175;p6">
            <a:extLst>
              <a:ext uri="{FF2B5EF4-FFF2-40B4-BE49-F238E27FC236}">
                <a16:creationId xmlns:a16="http://schemas.microsoft.com/office/drawing/2014/main" id="{BDA228EB-DF17-4454-E466-8E0E2646EBEE}"/>
              </a:ext>
            </a:extLst>
          </p:cNvPr>
          <p:cNvSpPr txBox="1">
            <a:spLocks/>
          </p:cNvSpPr>
          <p:nvPr/>
        </p:nvSpPr>
        <p:spPr>
          <a:xfrm>
            <a:off x="1842084" y="5473817"/>
            <a:ext cx="7541002" cy="106234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lt1"/>
              </a:buClr>
              <a:buSzPts val="18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42900" algn="l" rtl="0">
              <a:lnSpc>
                <a:spcPct val="90000"/>
              </a:lnSpc>
              <a:spcBef>
                <a:spcPts val="500"/>
              </a:spcBef>
              <a:spcAft>
                <a:spcPts val="0"/>
              </a:spcAft>
              <a:buClr>
                <a:schemeClr val="lt1"/>
              </a:buClr>
              <a:buSzPts val="18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9pPr>
          </a:lstStyle>
          <a:p>
            <a:pPr marL="0" indent="0">
              <a:spcBef>
                <a:spcPts val="0"/>
              </a:spcBef>
              <a:buSzPts val="2000"/>
              <a:buFont typeface="Arial"/>
              <a:buNone/>
            </a:pPr>
            <a:r>
              <a:rPr lang="en-US" b="1" i="1" dirty="0"/>
              <a:t>Ranking considers severity, likelihood, cost to fix, and impact on confidentiality, integrity, and availability</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sp>
        <p:nvSpPr>
          <p:cNvPr id="182" name="Google Shape;182;p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85750" indent="-285750">
              <a:buSzPts val="1600"/>
            </a:pPr>
            <a:r>
              <a:rPr lang="en-US" sz="1600" b="1" dirty="0"/>
              <a:t>Encryption at Rest</a:t>
            </a:r>
          </a:p>
          <a:p>
            <a:pPr marL="742950" lvl="1" indent="-285750">
              <a:buSzPts val="1600"/>
            </a:pPr>
            <a:r>
              <a:rPr lang="en-US" sz="1400" dirty="0"/>
              <a:t>Encrypt databases, files, backups, and persistent sensitive data</a:t>
            </a:r>
          </a:p>
          <a:p>
            <a:pPr marL="742950" lvl="1" indent="-285750">
              <a:buSzPts val="1600"/>
            </a:pPr>
            <a:r>
              <a:rPr lang="en-US" sz="1400" dirty="0"/>
              <a:t>Protect encryption keys separately</a:t>
            </a:r>
            <a:endParaRPr lang="en-US" sz="1400" b="1" dirty="0"/>
          </a:p>
          <a:p>
            <a:pPr marL="285750" indent="-285750">
              <a:buSzPts val="1600"/>
            </a:pPr>
            <a:r>
              <a:rPr lang="en-US" sz="1600" b="1" dirty="0"/>
              <a:t>Encryption in Flight</a:t>
            </a:r>
          </a:p>
          <a:p>
            <a:pPr marL="742950" lvl="1" indent="-285750">
              <a:buSzPts val="1600"/>
            </a:pPr>
            <a:r>
              <a:rPr lang="en-US" sz="1400" dirty="0"/>
              <a:t>Encrypt communication between clients, APIs, and services</a:t>
            </a:r>
          </a:p>
          <a:p>
            <a:pPr marL="742950" lvl="1" indent="-285750">
              <a:buSzPts val="1600"/>
            </a:pPr>
            <a:r>
              <a:rPr lang="en-US" sz="1400" dirty="0"/>
              <a:t>Reject insecure connections</a:t>
            </a:r>
          </a:p>
          <a:p>
            <a:pPr marL="285750" indent="-285750">
              <a:buSzPts val="1600"/>
            </a:pPr>
            <a:r>
              <a:rPr lang="en-US" sz="1600" b="1" dirty="0"/>
              <a:t>Encryption in Use</a:t>
            </a:r>
          </a:p>
          <a:p>
            <a:pPr marL="742950" lvl="1" indent="-285750">
              <a:buSzPts val="1600"/>
            </a:pPr>
            <a:r>
              <a:rPr lang="en-US" sz="1400" dirty="0"/>
              <a:t>Minimize plaintext exposure in memory</a:t>
            </a:r>
          </a:p>
          <a:p>
            <a:pPr marL="742950" lvl="1" indent="-285750">
              <a:buSzPts val="1600"/>
            </a:pPr>
            <a:r>
              <a:rPr lang="en-US" sz="1400" dirty="0"/>
              <a:t>Limit process and user access</a:t>
            </a:r>
          </a:p>
          <a:p>
            <a:pPr marL="742950" lvl="1" indent="-285750">
              <a:buSzPts val="1600"/>
            </a:pPr>
            <a:r>
              <a:rPr lang="en-US" sz="1400" dirty="0"/>
              <a:t>Remove secrets when no longer required</a:t>
            </a:r>
            <a:endParaRPr sz="1400" dirty="0"/>
          </a:p>
          <a:p>
            <a:pPr marL="228600" lvl="0" indent="-88900" algn="l" rtl="0">
              <a:lnSpc>
                <a:spcPct val="90000"/>
              </a:lnSpc>
              <a:spcBef>
                <a:spcPts val="1000"/>
              </a:spcBef>
              <a:spcAft>
                <a:spcPts val="0"/>
              </a:spcAft>
              <a:buClr>
                <a:schemeClr val="lt1"/>
              </a:buClr>
              <a:buSzPts val="2200"/>
              <a:buNone/>
            </a:pPr>
            <a:endParaRPr dirty="0"/>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sp>
        <p:nvSpPr>
          <p:cNvPr id="189" name="Google Shape;189;p8"/>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92500" lnSpcReduction="20000"/>
          </a:bodyPr>
          <a:lstStyle/>
          <a:p>
            <a:r>
              <a:rPr lang="en-US" b="1" dirty="0"/>
              <a:t>Authentication — </a:t>
            </a:r>
            <a:r>
              <a:rPr lang="en-US" b="1" i="1" dirty="0"/>
              <a:t>Who are you</a:t>
            </a:r>
            <a:r>
              <a:rPr lang="en-US" b="1" dirty="0"/>
              <a:t>?</a:t>
            </a:r>
            <a:endParaRPr lang="en-US" dirty="0"/>
          </a:p>
          <a:p>
            <a:pPr lvl="1"/>
            <a:r>
              <a:rPr lang="en-US" dirty="0"/>
              <a:t>Unique identities </a:t>
            </a:r>
          </a:p>
          <a:p>
            <a:pPr lvl="1"/>
            <a:r>
              <a:rPr lang="en-US" dirty="0"/>
              <a:t>Secure login </a:t>
            </a:r>
          </a:p>
          <a:p>
            <a:pPr lvl="1"/>
            <a:r>
              <a:rPr lang="en-US" dirty="0"/>
              <a:t>MFA for sensitive access </a:t>
            </a:r>
          </a:p>
          <a:p>
            <a:r>
              <a:rPr lang="en-US" b="1" dirty="0"/>
              <a:t>Authorization — </a:t>
            </a:r>
            <a:r>
              <a:rPr lang="en-US" b="1" i="1" dirty="0"/>
              <a:t>What may you do</a:t>
            </a:r>
            <a:r>
              <a:rPr lang="en-US" b="1" dirty="0"/>
              <a:t>?</a:t>
            </a:r>
            <a:endParaRPr lang="en-US" dirty="0"/>
          </a:p>
          <a:p>
            <a:pPr lvl="1"/>
            <a:r>
              <a:rPr lang="en-US" dirty="0"/>
              <a:t>Role-based access </a:t>
            </a:r>
          </a:p>
          <a:p>
            <a:pPr lvl="1"/>
            <a:r>
              <a:rPr lang="en-US" dirty="0"/>
              <a:t>Least privilege </a:t>
            </a:r>
          </a:p>
          <a:p>
            <a:pPr lvl="1"/>
            <a:r>
              <a:rPr lang="en-US" dirty="0"/>
              <a:t>Default deny </a:t>
            </a:r>
          </a:p>
          <a:p>
            <a:r>
              <a:rPr lang="en-US" b="1" dirty="0"/>
              <a:t>Accounting — </a:t>
            </a:r>
            <a:r>
              <a:rPr lang="en-US" b="1" i="1" dirty="0"/>
              <a:t>What did you do</a:t>
            </a:r>
            <a:r>
              <a:rPr lang="en-US" b="1" dirty="0"/>
              <a:t>?</a:t>
            </a:r>
            <a:endParaRPr lang="en-US" dirty="0"/>
          </a:p>
          <a:p>
            <a:pPr lvl="1"/>
            <a:r>
              <a:rPr lang="en-US" dirty="0"/>
              <a:t>Logins </a:t>
            </a:r>
          </a:p>
          <a:p>
            <a:pPr lvl="1"/>
            <a:r>
              <a:rPr lang="en-US" dirty="0"/>
              <a:t>Database changes </a:t>
            </a:r>
          </a:p>
          <a:p>
            <a:pPr lvl="1"/>
            <a:r>
              <a:rPr lang="en-US" dirty="0"/>
              <a:t>User creation and privilege changes </a:t>
            </a:r>
          </a:p>
          <a:p>
            <a:pPr lvl="1"/>
            <a:r>
              <a:rPr lang="en-US" dirty="0"/>
              <a:t>Sensitive file access</a:t>
            </a:r>
          </a:p>
          <a:p>
            <a:pPr marL="228600" lvl="0" indent="-228600" algn="l" rtl="0">
              <a:lnSpc>
                <a:spcPct val="90000"/>
              </a:lnSpc>
              <a:spcBef>
                <a:spcPts val="0"/>
              </a:spcBef>
              <a:spcAft>
                <a:spcPts val="0"/>
              </a:spcAft>
              <a:buClr>
                <a:schemeClr val="lt1"/>
              </a:buClr>
              <a:buSzPts val="2400"/>
              <a:buChar char="•"/>
            </a:pPr>
            <a:endParaRPr dirty="0"/>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lvl="0"/>
            <a:r>
              <a:rPr lang="en-US" dirty="0"/>
              <a:t>Can a Value Be Added to an Empty Vector?</a:t>
            </a:r>
            <a:endParaRPr dirty="0"/>
          </a:p>
        </p:txBody>
      </p:sp>
      <p:sp>
        <p:nvSpPr>
          <p:cNvPr id="196" name="Google Shape;196;g9504e29505_0_0"/>
          <p:cNvSpPr txBox="1">
            <a:spLocks noGrp="1"/>
          </p:cNvSpPr>
          <p:nvPr>
            <p:ph type="body" idx="1"/>
          </p:nvPr>
        </p:nvSpPr>
        <p:spPr>
          <a:xfrm>
            <a:off x="685801" y="2194560"/>
            <a:ext cx="5105069" cy="3899067"/>
          </a:xfrm>
          <a:prstGeom prst="rect">
            <a:avLst/>
          </a:prstGeom>
          <a:noFill/>
          <a:ln>
            <a:noFill/>
          </a:ln>
        </p:spPr>
        <p:txBody>
          <a:bodyPr spcFirstLastPara="1" wrap="square" lIns="91425" tIns="45700" rIns="91425" bIns="45700" anchor="t" anchorCtr="0">
            <a:noAutofit/>
          </a:bodyPr>
          <a:lstStyle/>
          <a:p>
            <a:pPr lvl="0"/>
            <a:r>
              <a:rPr lang="en-US" sz="2000" b="1" dirty="0"/>
              <a:t>Test:</a:t>
            </a:r>
            <a:r>
              <a:rPr lang="en-US" sz="2000" dirty="0"/>
              <a:t> </a:t>
            </a:r>
            <a:r>
              <a:rPr lang="en-US" sz="2000" i="1" dirty="0" err="1"/>
              <a:t>CanAddSingleValueToEmptyVector</a:t>
            </a:r>
            <a:r>
              <a:rPr lang="en-US" sz="2000" dirty="0"/>
              <a:t> </a:t>
            </a:r>
          </a:p>
          <a:p>
            <a:pPr lvl="0"/>
            <a:r>
              <a:rPr lang="en-US" sz="2000" b="1" dirty="0"/>
              <a:t>Type:</a:t>
            </a:r>
            <a:r>
              <a:rPr lang="en-US" sz="2000" dirty="0"/>
              <a:t> Positive Test </a:t>
            </a:r>
          </a:p>
          <a:p>
            <a:pPr lvl="0"/>
            <a:r>
              <a:rPr lang="en-US" sz="2000" dirty="0"/>
              <a:t>Confirms the vector begins empty </a:t>
            </a:r>
          </a:p>
          <a:p>
            <a:pPr lvl="0"/>
            <a:r>
              <a:rPr lang="en-US" sz="2000" dirty="0"/>
              <a:t>Adds one entry </a:t>
            </a:r>
          </a:p>
          <a:p>
            <a:pPr lvl="0"/>
            <a:r>
              <a:rPr lang="en-US" sz="2000" dirty="0"/>
              <a:t>Verifies size changes from 0 to 1 </a:t>
            </a:r>
          </a:p>
          <a:p>
            <a:pPr lvl="0"/>
            <a:r>
              <a:rPr lang="en-US" sz="2000" dirty="0"/>
              <a:t>Verifies the collection is no longer empty</a:t>
            </a:r>
          </a:p>
          <a:p>
            <a:pPr marL="114300" indent="0">
              <a:buNone/>
            </a:pPr>
            <a:endParaRPr lang="en-US" dirty="0"/>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4" name="TextBox 3">
            <a:extLst>
              <a:ext uri="{FF2B5EF4-FFF2-40B4-BE49-F238E27FC236}">
                <a16:creationId xmlns:a16="http://schemas.microsoft.com/office/drawing/2014/main" id="{F547F812-8FA7-C14C-BCE0-91E011C4B87E}"/>
              </a:ext>
            </a:extLst>
          </p:cNvPr>
          <p:cNvSpPr txBox="1"/>
          <p:nvPr/>
        </p:nvSpPr>
        <p:spPr>
          <a:xfrm>
            <a:off x="6354992" y="2396532"/>
            <a:ext cx="4353554" cy="2123658"/>
          </a:xfrm>
          <a:prstGeom prst="rect">
            <a:avLst/>
          </a:prstGeom>
          <a:noFill/>
          <a:ln>
            <a:solidFill>
              <a:schemeClr val="bg1"/>
            </a:solidFill>
          </a:ln>
        </p:spPr>
        <p:txBody>
          <a:bodyPr wrap="square" rtlCol="0">
            <a:spAutoFit/>
          </a:bodyPr>
          <a:lstStyle/>
          <a:p>
            <a:pPr>
              <a:buNone/>
            </a:pPr>
            <a:r>
              <a:rPr lang="en-US" sz="1200" dirty="0">
                <a:solidFill>
                  <a:schemeClr val="bg1"/>
                </a:solidFill>
                <a:effectLst/>
                <a:latin typeface="Cascadia Mono" panose="020B0609020000020004" pitchFamily="49" charset="0"/>
              </a:rPr>
              <a:t>TEST_F(</a:t>
            </a:r>
            <a:r>
              <a:rPr lang="en-US" sz="1200" dirty="0" err="1">
                <a:solidFill>
                  <a:schemeClr val="bg1"/>
                </a:solidFill>
                <a:effectLst/>
                <a:latin typeface="Cascadia Mono" panose="020B0609020000020004" pitchFamily="49" charset="0"/>
              </a:rPr>
              <a:t>CollectionTest</a:t>
            </a:r>
            <a:r>
              <a:rPr lang="en-US" sz="1200" dirty="0">
                <a:solidFill>
                  <a:schemeClr val="bg1"/>
                </a:solidFill>
                <a:effectLst/>
                <a:latin typeface="Cascadia Mono" panose="020B0609020000020004" pitchFamily="49" charset="0"/>
              </a:rPr>
              <a:t>, </a:t>
            </a:r>
            <a:r>
              <a:rPr lang="en-US" sz="1200" dirty="0" err="1">
                <a:solidFill>
                  <a:schemeClr val="bg1"/>
                </a:solidFill>
                <a:effectLst/>
                <a:latin typeface="Cascadia Mono" panose="020B0609020000020004" pitchFamily="49" charset="0"/>
              </a:rPr>
              <a:t>CanAddSingleValueToEmptyVector</a:t>
            </a:r>
            <a:r>
              <a:rPr lang="en-US" sz="1200" dirty="0">
                <a:solidFill>
                  <a:schemeClr val="bg1"/>
                </a:solidFill>
                <a:effectLst/>
                <a:latin typeface="Cascadia Mono" panose="020B0609020000020004" pitchFamily="49" charset="0"/>
              </a:rPr>
              <a:t>)</a:t>
            </a:r>
          </a:p>
          <a:p>
            <a:pPr>
              <a:buNone/>
            </a:pPr>
            <a:r>
              <a:rPr lang="en-US" sz="1200" dirty="0">
                <a:solidFill>
                  <a:schemeClr val="bg1"/>
                </a:solidFill>
                <a:effectLst/>
                <a:latin typeface="Cascadia Mono" panose="020B0609020000020004" pitchFamily="49" charset="0"/>
              </a:rPr>
              <a:t>{</a:t>
            </a:r>
          </a:p>
          <a:p>
            <a:pPr>
              <a:buNone/>
            </a:pPr>
            <a:r>
              <a:rPr lang="en-US" sz="1200" dirty="0">
                <a:solidFill>
                  <a:schemeClr val="bg1"/>
                </a:solidFill>
                <a:effectLst/>
                <a:latin typeface="Cascadia Mono" panose="020B0609020000020004" pitchFamily="49" charset="0"/>
              </a:rPr>
              <a:t>    ASSERT_TRUE(collection-&gt;empty());</a:t>
            </a:r>
          </a:p>
          <a:p>
            <a:pPr>
              <a:buNone/>
            </a:pPr>
            <a:r>
              <a:rPr lang="en-US" sz="1200" dirty="0">
                <a:solidFill>
                  <a:schemeClr val="bg1"/>
                </a:solidFill>
                <a:effectLst/>
                <a:latin typeface="Cascadia Mono" panose="020B0609020000020004" pitchFamily="49" charset="0"/>
              </a:rPr>
              <a:t>    ASSERT_EQ(collection-&gt;size(), 0);</a:t>
            </a:r>
          </a:p>
          <a:p>
            <a:pPr>
              <a:buNone/>
            </a:pPr>
            <a:endParaRPr lang="en-US" sz="1200" dirty="0">
              <a:solidFill>
                <a:schemeClr val="bg1"/>
              </a:solidFill>
              <a:effectLst/>
              <a:latin typeface="Cascadia Mono" panose="020B0609020000020004" pitchFamily="49" charset="0"/>
            </a:endParaRPr>
          </a:p>
          <a:p>
            <a:pPr>
              <a:buNone/>
            </a:pPr>
            <a:r>
              <a:rPr lang="en-US" sz="1200" dirty="0">
                <a:solidFill>
                  <a:schemeClr val="bg1"/>
                </a:solidFill>
                <a:effectLst/>
                <a:latin typeface="Cascadia Mono" panose="020B0609020000020004" pitchFamily="49" charset="0"/>
              </a:rPr>
              <a:t>    </a:t>
            </a:r>
            <a:r>
              <a:rPr lang="en-US" sz="1200" dirty="0" err="1">
                <a:solidFill>
                  <a:schemeClr val="bg1"/>
                </a:solidFill>
                <a:effectLst/>
                <a:latin typeface="Cascadia Mono" panose="020B0609020000020004" pitchFamily="49" charset="0"/>
              </a:rPr>
              <a:t>add_entries</a:t>
            </a:r>
            <a:r>
              <a:rPr lang="en-US" sz="1200" dirty="0">
                <a:solidFill>
                  <a:schemeClr val="bg1"/>
                </a:solidFill>
                <a:effectLst/>
                <a:latin typeface="Cascadia Mono" panose="020B0609020000020004" pitchFamily="49" charset="0"/>
              </a:rPr>
              <a:t>(1);</a:t>
            </a:r>
          </a:p>
          <a:p>
            <a:pPr>
              <a:buNone/>
            </a:pPr>
            <a:endParaRPr lang="en-US" sz="1200" dirty="0">
              <a:solidFill>
                <a:schemeClr val="bg1"/>
              </a:solidFill>
              <a:effectLst/>
              <a:latin typeface="Cascadia Mono" panose="020B0609020000020004" pitchFamily="49" charset="0"/>
            </a:endParaRPr>
          </a:p>
          <a:p>
            <a:pPr>
              <a:buNone/>
            </a:pPr>
            <a:r>
              <a:rPr lang="en-US" sz="1200" dirty="0">
                <a:solidFill>
                  <a:schemeClr val="bg1"/>
                </a:solidFill>
                <a:effectLst/>
                <a:latin typeface="Cascadia Mono" panose="020B0609020000020004" pitchFamily="49" charset="0"/>
              </a:rPr>
              <a:t>    EXPECT_FALSE(collection-&gt;empty());</a:t>
            </a:r>
          </a:p>
          <a:p>
            <a:pPr>
              <a:buNone/>
            </a:pPr>
            <a:r>
              <a:rPr lang="en-US" sz="1200" dirty="0">
                <a:solidFill>
                  <a:schemeClr val="bg1"/>
                </a:solidFill>
                <a:effectLst/>
                <a:latin typeface="Cascadia Mono" panose="020B0609020000020004" pitchFamily="49" charset="0"/>
              </a:rPr>
              <a:t>    EXPECT_EQ(collection-&gt;size(), 1);</a:t>
            </a:r>
          </a:p>
          <a:p>
            <a:pPr>
              <a:buNone/>
            </a:pPr>
            <a:r>
              <a:rPr lang="en-US" sz="1200" dirty="0">
                <a:solidFill>
                  <a:schemeClr val="bg1"/>
                </a:solidFill>
                <a:effectLst/>
                <a:latin typeface="Cascadia Mono" panose="020B0609020000020004" pitchFamily="49" charset="0"/>
              </a:rPr>
              <a:t>}</a:t>
            </a:r>
          </a:p>
        </p:txBody>
      </p:sp>
      <p:pic>
        <p:nvPicPr>
          <p:cNvPr id="6" name="Picture 5">
            <a:extLst>
              <a:ext uri="{FF2B5EF4-FFF2-40B4-BE49-F238E27FC236}">
                <a16:creationId xmlns:a16="http://schemas.microsoft.com/office/drawing/2014/main" id="{9E97F530-E68F-0B75-FB49-C466C3199E31}"/>
              </a:ext>
            </a:extLst>
          </p:cNvPr>
          <p:cNvPicPr>
            <a:picLocks noChangeAspect="1"/>
          </p:cNvPicPr>
          <p:nvPr/>
        </p:nvPicPr>
        <p:blipFill>
          <a:blip r:embed="rId5"/>
          <a:stretch>
            <a:fillRect/>
          </a:stretch>
        </p:blipFill>
        <p:spPr>
          <a:xfrm>
            <a:off x="6401131" y="4638675"/>
            <a:ext cx="3231620" cy="1454952"/>
          </a:xfrm>
          <a:prstGeom prst="rect">
            <a:avLst/>
          </a:prstGeom>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1E551B74-3425-F193-4C00-E01FF801B8D2}"/>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A3A4443B-7232-064E-2792-B9CC3060E33E}"/>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lvl="0"/>
            <a:r>
              <a:rPr lang="en-US" dirty="0"/>
              <a:t>Can the Vector Safely Resize to a Larger Size?</a:t>
            </a:r>
            <a:endParaRPr dirty="0"/>
          </a:p>
        </p:txBody>
      </p:sp>
      <p:sp>
        <p:nvSpPr>
          <p:cNvPr id="196" name="Google Shape;196;g9504e29505_0_0">
            <a:extLst>
              <a:ext uri="{FF2B5EF4-FFF2-40B4-BE49-F238E27FC236}">
                <a16:creationId xmlns:a16="http://schemas.microsoft.com/office/drawing/2014/main" id="{1E8FD3DD-C23D-03AA-86F9-C7A3BDAA0872}"/>
              </a:ext>
            </a:extLst>
          </p:cNvPr>
          <p:cNvSpPr txBox="1">
            <a:spLocks noGrp="1"/>
          </p:cNvSpPr>
          <p:nvPr>
            <p:ph type="body" idx="1"/>
          </p:nvPr>
        </p:nvSpPr>
        <p:spPr>
          <a:xfrm>
            <a:off x="685800" y="2194560"/>
            <a:ext cx="5410200" cy="4024200"/>
          </a:xfrm>
          <a:prstGeom prst="rect">
            <a:avLst/>
          </a:prstGeom>
          <a:noFill/>
          <a:ln>
            <a:noFill/>
          </a:ln>
        </p:spPr>
        <p:txBody>
          <a:bodyPr spcFirstLastPara="1" wrap="square" lIns="91425" tIns="45700" rIns="91425" bIns="45700" anchor="t" anchorCtr="0">
            <a:noAutofit/>
          </a:bodyPr>
          <a:lstStyle/>
          <a:p>
            <a:pPr lvl="0"/>
            <a:r>
              <a:rPr lang="en-US" sz="2000" b="1" dirty="0"/>
              <a:t>Test:</a:t>
            </a:r>
            <a:r>
              <a:rPr lang="en-US" sz="2000" dirty="0"/>
              <a:t> </a:t>
            </a:r>
            <a:r>
              <a:rPr lang="en-US" sz="2000" i="1" dirty="0" err="1"/>
              <a:t>ResizeIncreasesCollectionSize</a:t>
            </a:r>
            <a:r>
              <a:rPr lang="en-US" sz="2000" dirty="0"/>
              <a:t> </a:t>
            </a:r>
          </a:p>
          <a:p>
            <a:pPr lvl="0"/>
            <a:r>
              <a:rPr lang="en-US" sz="2000" b="1" dirty="0"/>
              <a:t>Type:</a:t>
            </a:r>
            <a:r>
              <a:rPr lang="en-US" sz="2000" dirty="0"/>
              <a:t> Positive Test </a:t>
            </a:r>
          </a:p>
          <a:p>
            <a:pPr lvl="0"/>
            <a:r>
              <a:rPr lang="en-US" sz="2000" dirty="0"/>
              <a:t>Starts with 5 elements </a:t>
            </a:r>
          </a:p>
          <a:p>
            <a:pPr lvl="0"/>
            <a:r>
              <a:rPr lang="en-US" sz="2000" dirty="0"/>
              <a:t>Resizes collection to 10 </a:t>
            </a:r>
          </a:p>
          <a:p>
            <a:pPr lvl="0"/>
            <a:r>
              <a:rPr lang="en-US" sz="2000" dirty="0"/>
              <a:t>Confirms final size equals 10 </a:t>
            </a:r>
          </a:p>
          <a:p>
            <a:pPr lvl="0"/>
            <a:r>
              <a:rPr lang="en-US" sz="2000" dirty="0"/>
              <a:t>Confirms the vector remains valid and </a:t>
            </a:r>
            <a:r>
              <a:rPr lang="en-US" sz="2000" dirty="0" err="1"/>
              <a:t>nonempt</a:t>
            </a:r>
            <a:endParaRPr lang="en-US" sz="2000" dirty="0"/>
          </a:p>
          <a:p>
            <a:pPr marL="0" lvl="0" indent="0" algn="l" rtl="0">
              <a:lnSpc>
                <a:spcPct val="90000"/>
              </a:lnSpc>
              <a:spcBef>
                <a:spcPts val="1000"/>
              </a:spcBef>
              <a:spcAft>
                <a:spcPts val="0"/>
              </a:spcAft>
              <a:buSzPts val="1800"/>
              <a:buNone/>
            </a:pPr>
            <a:endParaRPr dirty="0"/>
          </a:p>
        </p:txBody>
      </p:sp>
      <p:pic>
        <p:nvPicPr>
          <p:cNvPr id="197" name="Google Shape;197;g9504e29505_0_0" descr="Green Pace logo">
            <a:extLst>
              <a:ext uri="{FF2B5EF4-FFF2-40B4-BE49-F238E27FC236}">
                <a16:creationId xmlns:a16="http://schemas.microsoft.com/office/drawing/2014/main" id="{AF7067C3-67C1-47D2-6B73-D21F1EA83E02}"/>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3" name="TextBox 2">
            <a:extLst>
              <a:ext uri="{FF2B5EF4-FFF2-40B4-BE49-F238E27FC236}">
                <a16:creationId xmlns:a16="http://schemas.microsoft.com/office/drawing/2014/main" id="{2D8539F9-E973-6327-3967-EF13B29840BC}"/>
              </a:ext>
            </a:extLst>
          </p:cNvPr>
          <p:cNvSpPr txBox="1"/>
          <p:nvPr/>
        </p:nvSpPr>
        <p:spPr>
          <a:xfrm>
            <a:off x="6354992" y="2396532"/>
            <a:ext cx="4353554" cy="2123658"/>
          </a:xfrm>
          <a:prstGeom prst="rect">
            <a:avLst/>
          </a:prstGeom>
          <a:noFill/>
          <a:ln>
            <a:solidFill>
              <a:schemeClr val="bg1"/>
            </a:solidFill>
          </a:ln>
        </p:spPr>
        <p:txBody>
          <a:bodyPr wrap="square" rtlCol="0">
            <a:spAutoFit/>
          </a:bodyPr>
          <a:lstStyle/>
          <a:p>
            <a:pPr>
              <a:buNone/>
            </a:pPr>
            <a:r>
              <a:rPr lang="en-US" sz="1200" dirty="0">
                <a:solidFill>
                  <a:schemeClr val="bg1"/>
                </a:solidFill>
                <a:effectLst/>
                <a:latin typeface="Cascadia Mono" panose="020B0609020000020004" pitchFamily="49" charset="0"/>
              </a:rPr>
              <a:t>TEST_F(</a:t>
            </a:r>
            <a:r>
              <a:rPr lang="en-US" sz="1200" dirty="0" err="1">
                <a:solidFill>
                  <a:schemeClr val="bg1"/>
                </a:solidFill>
                <a:effectLst/>
                <a:latin typeface="Cascadia Mono" panose="020B0609020000020004" pitchFamily="49" charset="0"/>
              </a:rPr>
              <a:t>CollectionTest</a:t>
            </a:r>
            <a:r>
              <a:rPr lang="en-US" sz="1200" dirty="0">
                <a:solidFill>
                  <a:schemeClr val="bg1"/>
                </a:solidFill>
                <a:effectLst/>
                <a:latin typeface="Cascadia Mono" panose="020B0609020000020004" pitchFamily="49" charset="0"/>
              </a:rPr>
              <a:t>, </a:t>
            </a:r>
            <a:r>
              <a:rPr lang="en-US" sz="1200" dirty="0" err="1">
                <a:solidFill>
                  <a:schemeClr val="bg1"/>
                </a:solidFill>
                <a:effectLst/>
                <a:latin typeface="Cascadia Mono" panose="020B0609020000020004" pitchFamily="49" charset="0"/>
              </a:rPr>
              <a:t>ResizeIncreasesCollectionSize</a:t>
            </a:r>
            <a:r>
              <a:rPr lang="en-US" sz="1200" dirty="0">
                <a:solidFill>
                  <a:schemeClr val="bg1"/>
                </a:solidFill>
                <a:effectLst/>
                <a:latin typeface="Cascadia Mono" panose="020B0609020000020004" pitchFamily="49" charset="0"/>
              </a:rPr>
              <a:t>)</a:t>
            </a:r>
          </a:p>
          <a:p>
            <a:pPr>
              <a:buNone/>
            </a:pPr>
            <a:r>
              <a:rPr lang="en-US" sz="1200" dirty="0">
                <a:solidFill>
                  <a:schemeClr val="bg1"/>
                </a:solidFill>
                <a:effectLst/>
                <a:latin typeface="Cascadia Mono" panose="020B0609020000020004" pitchFamily="49" charset="0"/>
              </a:rPr>
              <a:t>{</a:t>
            </a:r>
          </a:p>
          <a:p>
            <a:pPr>
              <a:buNone/>
            </a:pPr>
            <a:r>
              <a:rPr lang="en-US" sz="1200" dirty="0">
                <a:solidFill>
                  <a:schemeClr val="bg1"/>
                </a:solidFill>
                <a:effectLst/>
                <a:latin typeface="Cascadia Mono" panose="020B0609020000020004" pitchFamily="49" charset="0"/>
              </a:rPr>
              <a:t>    </a:t>
            </a:r>
            <a:r>
              <a:rPr lang="en-US" sz="1200" dirty="0" err="1">
                <a:solidFill>
                  <a:schemeClr val="bg1"/>
                </a:solidFill>
                <a:effectLst/>
                <a:latin typeface="Cascadia Mono" panose="020B0609020000020004" pitchFamily="49" charset="0"/>
              </a:rPr>
              <a:t>add_entries</a:t>
            </a:r>
            <a:r>
              <a:rPr lang="en-US" sz="1200" dirty="0">
                <a:solidFill>
                  <a:schemeClr val="bg1"/>
                </a:solidFill>
                <a:effectLst/>
                <a:latin typeface="Cascadia Mono" panose="020B0609020000020004" pitchFamily="49" charset="0"/>
              </a:rPr>
              <a:t>(5);</a:t>
            </a:r>
          </a:p>
          <a:p>
            <a:pPr>
              <a:buNone/>
            </a:pPr>
            <a:r>
              <a:rPr lang="en-US" sz="1200" dirty="0">
                <a:solidFill>
                  <a:schemeClr val="bg1"/>
                </a:solidFill>
                <a:effectLst/>
                <a:latin typeface="Cascadia Mono" panose="020B0609020000020004" pitchFamily="49" charset="0"/>
              </a:rPr>
              <a:t>    ASSERT_EQ(collection-&gt;size(), 5);</a:t>
            </a:r>
          </a:p>
          <a:p>
            <a:pPr>
              <a:buNone/>
            </a:pPr>
            <a:endParaRPr lang="en-US" sz="1200" dirty="0">
              <a:solidFill>
                <a:schemeClr val="bg1"/>
              </a:solidFill>
              <a:effectLst/>
              <a:latin typeface="Cascadia Mono" panose="020B0609020000020004" pitchFamily="49" charset="0"/>
            </a:endParaRPr>
          </a:p>
          <a:p>
            <a:pPr>
              <a:buNone/>
            </a:pPr>
            <a:r>
              <a:rPr lang="en-US" sz="1200" dirty="0">
                <a:solidFill>
                  <a:schemeClr val="bg1"/>
                </a:solidFill>
                <a:effectLst/>
                <a:latin typeface="Cascadia Mono" panose="020B0609020000020004" pitchFamily="49" charset="0"/>
              </a:rPr>
              <a:t>    collection-&gt;resize(10);</a:t>
            </a:r>
          </a:p>
          <a:p>
            <a:pPr>
              <a:buNone/>
            </a:pPr>
            <a:endParaRPr lang="en-US" sz="1200" dirty="0">
              <a:solidFill>
                <a:schemeClr val="bg1"/>
              </a:solidFill>
              <a:effectLst/>
              <a:latin typeface="Cascadia Mono" panose="020B0609020000020004" pitchFamily="49" charset="0"/>
            </a:endParaRPr>
          </a:p>
          <a:p>
            <a:pPr>
              <a:buNone/>
            </a:pPr>
            <a:r>
              <a:rPr lang="en-US" sz="1200" dirty="0">
                <a:solidFill>
                  <a:schemeClr val="bg1"/>
                </a:solidFill>
                <a:effectLst/>
                <a:latin typeface="Cascadia Mono" panose="020B0609020000020004" pitchFamily="49" charset="0"/>
              </a:rPr>
              <a:t>    EXPECT_EQ(collection-&gt;size(), 10);</a:t>
            </a:r>
          </a:p>
          <a:p>
            <a:pPr>
              <a:buNone/>
            </a:pPr>
            <a:r>
              <a:rPr lang="en-US" sz="1200" dirty="0">
                <a:solidFill>
                  <a:schemeClr val="bg1"/>
                </a:solidFill>
                <a:effectLst/>
                <a:latin typeface="Cascadia Mono" panose="020B0609020000020004" pitchFamily="49" charset="0"/>
              </a:rPr>
              <a:t>    EXPECT_FALSE(collection-&gt;empty());</a:t>
            </a:r>
          </a:p>
          <a:p>
            <a:pPr>
              <a:buNone/>
            </a:pPr>
            <a:r>
              <a:rPr lang="en-US" sz="1200" dirty="0">
                <a:solidFill>
                  <a:schemeClr val="bg1"/>
                </a:solidFill>
                <a:effectLst/>
                <a:latin typeface="Cascadia Mono" panose="020B0609020000020004" pitchFamily="49" charset="0"/>
              </a:rPr>
              <a:t>}</a:t>
            </a:r>
          </a:p>
        </p:txBody>
      </p:sp>
      <p:pic>
        <p:nvPicPr>
          <p:cNvPr id="5" name="Picture 4">
            <a:extLst>
              <a:ext uri="{FF2B5EF4-FFF2-40B4-BE49-F238E27FC236}">
                <a16:creationId xmlns:a16="http://schemas.microsoft.com/office/drawing/2014/main" id="{6B397C60-B725-A2DF-F468-C4D548EF1967}"/>
              </a:ext>
            </a:extLst>
          </p:cNvPr>
          <p:cNvPicPr>
            <a:picLocks noChangeAspect="1"/>
          </p:cNvPicPr>
          <p:nvPr/>
        </p:nvPicPr>
        <p:blipFill>
          <a:blip r:embed="rId5"/>
          <a:stretch>
            <a:fillRect/>
          </a:stretch>
        </p:blipFill>
        <p:spPr>
          <a:xfrm>
            <a:off x="6401131" y="4638675"/>
            <a:ext cx="3231620" cy="1454952"/>
          </a:xfrm>
          <a:prstGeom prst="rect">
            <a:avLst/>
          </a:prstGeom>
        </p:spPr>
      </p:pic>
    </p:spTree>
    <p:custDataLst>
      <p:tags r:id="rId1"/>
    </p:custDataLst>
    <p:extLst>
      <p:ext uri="{BB962C8B-B14F-4D97-AF65-F5344CB8AC3E}">
        <p14:creationId xmlns:p14="http://schemas.microsoft.com/office/powerpoint/2010/main" val="12109296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6B380C19-980D-39C9-CFFC-A160425F3CA1}"/>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4E1148A3-9307-2392-C39D-CB057DB4E4C8}"/>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lvl="0"/>
            <a:r>
              <a:rPr lang="en-US" dirty="0"/>
              <a:t>Does Clear Remove All Elements from the Vector?</a:t>
            </a:r>
            <a:endParaRPr dirty="0"/>
          </a:p>
        </p:txBody>
      </p:sp>
      <p:sp>
        <p:nvSpPr>
          <p:cNvPr id="196" name="Google Shape;196;g9504e29505_0_0">
            <a:extLst>
              <a:ext uri="{FF2B5EF4-FFF2-40B4-BE49-F238E27FC236}">
                <a16:creationId xmlns:a16="http://schemas.microsoft.com/office/drawing/2014/main" id="{1D3648CD-F64B-B9E7-10EA-95D7714216F7}"/>
              </a:ext>
            </a:extLst>
          </p:cNvPr>
          <p:cNvSpPr txBox="1">
            <a:spLocks noGrp="1"/>
          </p:cNvSpPr>
          <p:nvPr>
            <p:ph type="body" idx="1"/>
          </p:nvPr>
        </p:nvSpPr>
        <p:spPr>
          <a:xfrm>
            <a:off x="685800" y="2194560"/>
            <a:ext cx="4909657" cy="4024200"/>
          </a:xfrm>
          <a:prstGeom prst="rect">
            <a:avLst/>
          </a:prstGeom>
          <a:noFill/>
          <a:ln>
            <a:noFill/>
          </a:ln>
        </p:spPr>
        <p:txBody>
          <a:bodyPr spcFirstLastPara="1" wrap="square" lIns="91425" tIns="45700" rIns="91425" bIns="45700" anchor="t" anchorCtr="0">
            <a:noAutofit/>
          </a:bodyPr>
          <a:lstStyle/>
          <a:p>
            <a:pPr lvl="0"/>
            <a:r>
              <a:rPr lang="en-US" sz="2000" b="1" dirty="0"/>
              <a:t>Test:</a:t>
            </a:r>
            <a:r>
              <a:rPr lang="en-US" sz="2000" dirty="0"/>
              <a:t> </a:t>
            </a:r>
            <a:r>
              <a:rPr lang="en-US" sz="2000" i="1" dirty="0" err="1"/>
              <a:t>ClearErasesEntireCollection</a:t>
            </a:r>
            <a:r>
              <a:rPr lang="en-US" sz="2000" dirty="0"/>
              <a:t> </a:t>
            </a:r>
          </a:p>
          <a:p>
            <a:pPr lvl="0"/>
            <a:r>
              <a:rPr lang="en-US" sz="2000" b="1" dirty="0"/>
              <a:t>Type:</a:t>
            </a:r>
            <a:r>
              <a:rPr lang="en-US" sz="2000" dirty="0"/>
              <a:t> Positive Test </a:t>
            </a:r>
          </a:p>
          <a:p>
            <a:pPr lvl="0"/>
            <a:r>
              <a:rPr lang="en-US" sz="2000" dirty="0"/>
              <a:t>Adds 5 elements </a:t>
            </a:r>
          </a:p>
          <a:p>
            <a:pPr lvl="0"/>
            <a:r>
              <a:rPr lang="en-US" sz="2000" dirty="0"/>
              <a:t>Calls clear() </a:t>
            </a:r>
          </a:p>
          <a:p>
            <a:pPr lvl="0"/>
            <a:r>
              <a:rPr lang="en-US" sz="2000" dirty="0"/>
              <a:t>Confirms empty() returns true </a:t>
            </a:r>
          </a:p>
          <a:p>
            <a:pPr lvl="0"/>
            <a:r>
              <a:rPr lang="en-US" sz="2000" dirty="0"/>
              <a:t>Confirms size equals 0</a:t>
            </a:r>
          </a:p>
        </p:txBody>
      </p:sp>
      <p:pic>
        <p:nvPicPr>
          <p:cNvPr id="197" name="Google Shape;197;g9504e29505_0_0" descr="Green Pace logo">
            <a:extLst>
              <a:ext uri="{FF2B5EF4-FFF2-40B4-BE49-F238E27FC236}">
                <a16:creationId xmlns:a16="http://schemas.microsoft.com/office/drawing/2014/main" id="{CA1D10B4-869A-1B44-CE08-885266BA6633}"/>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3" name="TextBox 2">
            <a:extLst>
              <a:ext uri="{FF2B5EF4-FFF2-40B4-BE49-F238E27FC236}">
                <a16:creationId xmlns:a16="http://schemas.microsoft.com/office/drawing/2014/main" id="{6F192F53-A85B-C20F-51B9-66B7F38FD432}"/>
              </a:ext>
            </a:extLst>
          </p:cNvPr>
          <p:cNvSpPr txBox="1"/>
          <p:nvPr/>
        </p:nvSpPr>
        <p:spPr>
          <a:xfrm>
            <a:off x="6354992" y="2396532"/>
            <a:ext cx="4353554" cy="2123658"/>
          </a:xfrm>
          <a:prstGeom prst="rect">
            <a:avLst/>
          </a:prstGeom>
          <a:noFill/>
          <a:ln>
            <a:solidFill>
              <a:schemeClr val="bg1"/>
            </a:solidFill>
          </a:ln>
        </p:spPr>
        <p:txBody>
          <a:bodyPr wrap="square" rtlCol="0">
            <a:spAutoFit/>
          </a:bodyPr>
          <a:lstStyle/>
          <a:p>
            <a:pPr>
              <a:buNone/>
            </a:pPr>
            <a:r>
              <a:rPr lang="en-US" sz="1200" dirty="0">
                <a:solidFill>
                  <a:schemeClr val="bg1"/>
                </a:solidFill>
                <a:effectLst/>
                <a:latin typeface="Cascadia Mono" panose="020B0609020000020004" pitchFamily="49" charset="0"/>
              </a:rPr>
              <a:t>TEST_F(</a:t>
            </a:r>
            <a:r>
              <a:rPr lang="en-US" sz="1200" dirty="0" err="1">
                <a:solidFill>
                  <a:schemeClr val="bg1"/>
                </a:solidFill>
                <a:effectLst/>
                <a:latin typeface="Cascadia Mono" panose="020B0609020000020004" pitchFamily="49" charset="0"/>
              </a:rPr>
              <a:t>CollectionTest</a:t>
            </a:r>
            <a:r>
              <a:rPr lang="en-US" sz="1200" dirty="0">
                <a:solidFill>
                  <a:schemeClr val="bg1"/>
                </a:solidFill>
                <a:effectLst/>
                <a:latin typeface="Cascadia Mono" panose="020B0609020000020004" pitchFamily="49" charset="0"/>
              </a:rPr>
              <a:t>, </a:t>
            </a:r>
            <a:r>
              <a:rPr lang="en-US" sz="1200" dirty="0" err="1">
                <a:solidFill>
                  <a:schemeClr val="bg1"/>
                </a:solidFill>
                <a:effectLst/>
                <a:latin typeface="Cascadia Mono" panose="020B0609020000020004" pitchFamily="49" charset="0"/>
              </a:rPr>
              <a:t>ClearErasesEntireCollection</a:t>
            </a:r>
            <a:r>
              <a:rPr lang="en-US" sz="1200" dirty="0">
                <a:solidFill>
                  <a:schemeClr val="bg1"/>
                </a:solidFill>
                <a:effectLst/>
                <a:latin typeface="Cascadia Mono" panose="020B0609020000020004" pitchFamily="49" charset="0"/>
              </a:rPr>
              <a:t>)</a:t>
            </a:r>
          </a:p>
          <a:p>
            <a:pPr>
              <a:buNone/>
            </a:pPr>
            <a:r>
              <a:rPr lang="en-US" sz="1200" dirty="0">
                <a:solidFill>
                  <a:schemeClr val="bg1"/>
                </a:solidFill>
                <a:effectLst/>
                <a:latin typeface="Cascadia Mono" panose="020B0609020000020004" pitchFamily="49" charset="0"/>
              </a:rPr>
              <a:t>{</a:t>
            </a:r>
          </a:p>
          <a:p>
            <a:pPr>
              <a:buNone/>
            </a:pPr>
            <a:r>
              <a:rPr lang="en-US" sz="1200" dirty="0">
                <a:solidFill>
                  <a:schemeClr val="bg1"/>
                </a:solidFill>
                <a:effectLst/>
                <a:latin typeface="Cascadia Mono" panose="020B0609020000020004" pitchFamily="49" charset="0"/>
              </a:rPr>
              <a:t>    </a:t>
            </a:r>
            <a:r>
              <a:rPr lang="en-US" sz="1200" dirty="0" err="1">
                <a:solidFill>
                  <a:schemeClr val="bg1"/>
                </a:solidFill>
                <a:effectLst/>
                <a:latin typeface="Cascadia Mono" panose="020B0609020000020004" pitchFamily="49" charset="0"/>
              </a:rPr>
              <a:t>add_entries</a:t>
            </a:r>
            <a:r>
              <a:rPr lang="en-US" sz="1200" dirty="0">
                <a:solidFill>
                  <a:schemeClr val="bg1"/>
                </a:solidFill>
                <a:effectLst/>
                <a:latin typeface="Cascadia Mono" panose="020B0609020000020004" pitchFamily="49" charset="0"/>
              </a:rPr>
              <a:t>(5);</a:t>
            </a:r>
          </a:p>
          <a:p>
            <a:pPr>
              <a:buNone/>
            </a:pPr>
            <a:r>
              <a:rPr lang="en-US" sz="1200" dirty="0">
                <a:solidFill>
                  <a:schemeClr val="bg1"/>
                </a:solidFill>
                <a:effectLst/>
                <a:latin typeface="Cascadia Mono" panose="020B0609020000020004" pitchFamily="49" charset="0"/>
              </a:rPr>
              <a:t>    ASSERT_EQ(collection-&gt;size(), 5);</a:t>
            </a:r>
          </a:p>
          <a:p>
            <a:pPr>
              <a:buNone/>
            </a:pPr>
            <a:endParaRPr lang="en-US" sz="1200" dirty="0">
              <a:solidFill>
                <a:schemeClr val="bg1"/>
              </a:solidFill>
              <a:effectLst/>
              <a:latin typeface="Cascadia Mono" panose="020B0609020000020004" pitchFamily="49" charset="0"/>
            </a:endParaRPr>
          </a:p>
          <a:p>
            <a:pPr>
              <a:buNone/>
            </a:pPr>
            <a:r>
              <a:rPr lang="en-US" sz="1200" dirty="0">
                <a:solidFill>
                  <a:schemeClr val="bg1"/>
                </a:solidFill>
                <a:effectLst/>
                <a:latin typeface="Cascadia Mono" panose="020B0609020000020004" pitchFamily="49" charset="0"/>
              </a:rPr>
              <a:t>    collection-&gt;clear();</a:t>
            </a:r>
          </a:p>
          <a:p>
            <a:pPr>
              <a:buNone/>
            </a:pPr>
            <a:endParaRPr lang="en-US" sz="1200" dirty="0">
              <a:solidFill>
                <a:schemeClr val="bg1"/>
              </a:solidFill>
              <a:effectLst/>
              <a:latin typeface="Cascadia Mono" panose="020B0609020000020004" pitchFamily="49" charset="0"/>
            </a:endParaRPr>
          </a:p>
          <a:p>
            <a:pPr>
              <a:buNone/>
            </a:pPr>
            <a:r>
              <a:rPr lang="en-US" sz="1200" dirty="0">
                <a:solidFill>
                  <a:schemeClr val="bg1"/>
                </a:solidFill>
                <a:effectLst/>
                <a:latin typeface="Cascadia Mono" panose="020B0609020000020004" pitchFamily="49" charset="0"/>
              </a:rPr>
              <a:t>    EXPECT_TRUE(collection-&gt;empty());</a:t>
            </a:r>
          </a:p>
          <a:p>
            <a:pPr>
              <a:buNone/>
            </a:pPr>
            <a:r>
              <a:rPr lang="en-US" sz="1200" dirty="0">
                <a:solidFill>
                  <a:schemeClr val="bg1"/>
                </a:solidFill>
                <a:effectLst/>
                <a:latin typeface="Cascadia Mono" panose="020B0609020000020004" pitchFamily="49" charset="0"/>
              </a:rPr>
              <a:t>    EXPECT_EQ(collection-&gt;size(), 0);</a:t>
            </a:r>
          </a:p>
          <a:p>
            <a:pPr>
              <a:buNone/>
            </a:pPr>
            <a:r>
              <a:rPr lang="en-US" sz="1200" dirty="0">
                <a:solidFill>
                  <a:schemeClr val="bg1"/>
                </a:solidFill>
                <a:effectLst/>
                <a:latin typeface="Cascadia Mono" panose="020B0609020000020004" pitchFamily="49" charset="0"/>
              </a:rPr>
              <a:t>}</a:t>
            </a:r>
          </a:p>
        </p:txBody>
      </p:sp>
      <p:pic>
        <p:nvPicPr>
          <p:cNvPr id="5" name="Picture 4">
            <a:extLst>
              <a:ext uri="{FF2B5EF4-FFF2-40B4-BE49-F238E27FC236}">
                <a16:creationId xmlns:a16="http://schemas.microsoft.com/office/drawing/2014/main" id="{093E3439-4E04-6584-13DD-BA1E8496A206}"/>
              </a:ext>
            </a:extLst>
          </p:cNvPr>
          <p:cNvPicPr>
            <a:picLocks noChangeAspect="1"/>
          </p:cNvPicPr>
          <p:nvPr/>
        </p:nvPicPr>
        <p:blipFill>
          <a:blip r:embed="rId5"/>
          <a:stretch>
            <a:fillRect/>
          </a:stretch>
        </p:blipFill>
        <p:spPr>
          <a:xfrm>
            <a:off x="6401131" y="4638675"/>
            <a:ext cx="3231620" cy="1454952"/>
          </a:xfrm>
          <a:prstGeom prst="rect">
            <a:avLst/>
          </a:prstGeom>
        </p:spPr>
      </p:pic>
    </p:spTree>
    <p:custDataLst>
      <p:tags r:id="rId1"/>
    </p:custDataLst>
    <p:extLst>
      <p:ext uri="{BB962C8B-B14F-4D97-AF65-F5344CB8AC3E}">
        <p14:creationId xmlns:p14="http://schemas.microsoft.com/office/powerpoint/2010/main" val="20429305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9F12B348-CA81-330E-A4AD-B2BFE79BA360}"/>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DAF2CAF8-5D57-294F-6DED-2B831EB2EEA2}"/>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lvl="0"/>
            <a:r>
              <a:rPr lang="en-US" dirty="0"/>
              <a:t>Does an Invalid Index Throw an Exception on an Empty Vector?</a:t>
            </a:r>
            <a:endParaRPr dirty="0"/>
          </a:p>
        </p:txBody>
      </p:sp>
      <p:sp>
        <p:nvSpPr>
          <p:cNvPr id="196" name="Google Shape;196;g9504e29505_0_0">
            <a:extLst>
              <a:ext uri="{FF2B5EF4-FFF2-40B4-BE49-F238E27FC236}">
                <a16:creationId xmlns:a16="http://schemas.microsoft.com/office/drawing/2014/main" id="{3E0D991F-CB08-2348-C81E-01E9253613C8}"/>
              </a:ext>
            </a:extLst>
          </p:cNvPr>
          <p:cNvSpPr txBox="1">
            <a:spLocks noGrp="1"/>
          </p:cNvSpPr>
          <p:nvPr>
            <p:ph type="body" idx="1"/>
          </p:nvPr>
        </p:nvSpPr>
        <p:spPr>
          <a:xfrm>
            <a:off x="685800" y="2194560"/>
            <a:ext cx="5715331" cy="4024200"/>
          </a:xfrm>
          <a:prstGeom prst="rect">
            <a:avLst/>
          </a:prstGeom>
          <a:noFill/>
          <a:ln>
            <a:noFill/>
          </a:ln>
        </p:spPr>
        <p:txBody>
          <a:bodyPr spcFirstLastPara="1" wrap="square" lIns="91425" tIns="45700" rIns="91425" bIns="45700" anchor="t" anchorCtr="0">
            <a:noAutofit/>
          </a:bodyPr>
          <a:lstStyle/>
          <a:p>
            <a:pPr lvl="0"/>
            <a:r>
              <a:rPr lang="en-US" sz="2000" b="1" dirty="0"/>
              <a:t>Test:</a:t>
            </a:r>
            <a:r>
              <a:rPr lang="en-US" sz="2000" dirty="0"/>
              <a:t> </a:t>
            </a:r>
            <a:r>
              <a:rPr lang="en-US" sz="2000" i="1" dirty="0" err="1"/>
              <a:t>AtThrowsOutOfRangeForEmptyCollection</a:t>
            </a:r>
            <a:r>
              <a:rPr lang="en-US" sz="2000" dirty="0"/>
              <a:t> </a:t>
            </a:r>
          </a:p>
          <a:p>
            <a:pPr lvl="0"/>
            <a:r>
              <a:rPr lang="en-US" sz="2000" b="1" dirty="0"/>
              <a:t>Type:</a:t>
            </a:r>
            <a:r>
              <a:rPr lang="en-US" sz="2000" dirty="0"/>
              <a:t> Negative Test </a:t>
            </a:r>
          </a:p>
          <a:p>
            <a:pPr lvl="0"/>
            <a:r>
              <a:rPr lang="en-US" sz="2000" dirty="0"/>
              <a:t>Collection contains no elements </a:t>
            </a:r>
          </a:p>
          <a:p>
            <a:pPr lvl="0"/>
            <a:r>
              <a:rPr lang="en-US" sz="2000" dirty="0"/>
              <a:t>Attempts collection-&gt;at(0) </a:t>
            </a:r>
          </a:p>
          <a:p>
            <a:pPr lvl="0"/>
            <a:r>
              <a:rPr lang="en-US" sz="2000" dirty="0"/>
              <a:t>Expected result: std::</a:t>
            </a:r>
            <a:r>
              <a:rPr lang="en-US" sz="2000" dirty="0" err="1"/>
              <a:t>out_of_range</a:t>
            </a:r>
            <a:r>
              <a:rPr lang="en-US" sz="2000" dirty="0"/>
              <a:t> </a:t>
            </a:r>
          </a:p>
          <a:p>
            <a:pPr lvl="0"/>
            <a:r>
              <a:rPr lang="en-US" sz="2000" dirty="0"/>
              <a:t>Test passes only if the exception occurs</a:t>
            </a:r>
          </a:p>
          <a:p>
            <a:pPr marL="0" lvl="0" indent="0" algn="l" rtl="0">
              <a:lnSpc>
                <a:spcPct val="90000"/>
              </a:lnSpc>
              <a:spcBef>
                <a:spcPts val="1000"/>
              </a:spcBef>
              <a:spcAft>
                <a:spcPts val="0"/>
              </a:spcAft>
              <a:buSzPts val="1800"/>
              <a:buNone/>
            </a:pPr>
            <a:endParaRPr dirty="0"/>
          </a:p>
        </p:txBody>
      </p:sp>
      <p:pic>
        <p:nvPicPr>
          <p:cNvPr id="197" name="Google Shape;197;g9504e29505_0_0" descr="Green Pace logo">
            <a:extLst>
              <a:ext uri="{FF2B5EF4-FFF2-40B4-BE49-F238E27FC236}">
                <a16:creationId xmlns:a16="http://schemas.microsoft.com/office/drawing/2014/main" id="{E1F77D1A-B36B-709A-D324-5BDA572BCF6A}"/>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3" name="TextBox 2">
            <a:extLst>
              <a:ext uri="{FF2B5EF4-FFF2-40B4-BE49-F238E27FC236}">
                <a16:creationId xmlns:a16="http://schemas.microsoft.com/office/drawing/2014/main" id="{B624124C-F9DE-1104-1585-8883AD49DA4E}"/>
              </a:ext>
            </a:extLst>
          </p:cNvPr>
          <p:cNvSpPr txBox="1"/>
          <p:nvPr/>
        </p:nvSpPr>
        <p:spPr>
          <a:xfrm>
            <a:off x="6354992" y="2396532"/>
            <a:ext cx="4353554" cy="1569660"/>
          </a:xfrm>
          <a:prstGeom prst="rect">
            <a:avLst/>
          </a:prstGeom>
          <a:noFill/>
          <a:ln>
            <a:solidFill>
              <a:schemeClr val="bg1"/>
            </a:solidFill>
          </a:ln>
        </p:spPr>
        <p:txBody>
          <a:bodyPr wrap="square" rtlCol="0">
            <a:spAutoFit/>
          </a:bodyPr>
          <a:lstStyle/>
          <a:p>
            <a:pPr>
              <a:buNone/>
            </a:pPr>
            <a:r>
              <a:rPr lang="en-US" sz="1200" dirty="0">
                <a:solidFill>
                  <a:schemeClr val="bg1"/>
                </a:solidFill>
                <a:effectLst/>
                <a:latin typeface="Cascadia Mono" panose="020B0609020000020004" pitchFamily="49" charset="0"/>
              </a:rPr>
              <a:t>TEST_F(</a:t>
            </a:r>
            <a:r>
              <a:rPr lang="en-US" sz="1200" dirty="0" err="1">
                <a:solidFill>
                  <a:schemeClr val="bg1"/>
                </a:solidFill>
                <a:effectLst/>
                <a:latin typeface="Cascadia Mono" panose="020B0609020000020004" pitchFamily="49" charset="0"/>
              </a:rPr>
              <a:t>CollectionTest</a:t>
            </a:r>
            <a:r>
              <a:rPr lang="en-US" sz="1200" dirty="0">
                <a:solidFill>
                  <a:schemeClr val="bg1"/>
                </a:solidFill>
                <a:effectLst/>
                <a:latin typeface="Cascadia Mono" panose="020B0609020000020004" pitchFamily="49" charset="0"/>
              </a:rPr>
              <a:t>, </a:t>
            </a:r>
            <a:r>
              <a:rPr lang="en-US" sz="1200" dirty="0" err="1">
                <a:solidFill>
                  <a:schemeClr val="bg1"/>
                </a:solidFill>
                <a:effectLst/>
                <a:latin typeface="Cascadia Mono" panose="020B0609020000020004" pitchFamily="49" charset="0"/>
              </a:rPr>
              <a:t>AtThrowsOutOfRangeForEmptyCollection</a:t>
            </a:r>
            <a:r>
              <a:rPr lang="en-US" sz="1200" dirty="0">
                <a:solidFill>
                  <a:schemeClr val="bg1"/>
                </a:solidFill>
                <a:effectLst/>
                <a:latin typeface="Cascadia Mono" panose="020B0609020000020004" pitchFamily="49" charset="0"/>
              </a:rPr>
              <a:t>)</a:t>
            </a:r>
          </a:p>
          <a:p>
            <a:pPr>
              <a:buNone/>
            </a:pPr>
            <a:r>
              <a:rPr lang="en-US" sz="1200" dirty="0">
                <a:solidFill>
                  <a:schemeClr val="bg1"/>
                </a:solidFill>
                <a:effectLst/>
                <a:latin typeface="Cascadia Mono" panose="020B0609020000020004" pitchFamily="49" charset="0"/>
              </a:rPr>
              <a:t>{</a:t>
            </a:r>
          </a:p>
          <a:p>
            <a:pPr>
              <a:buNone/>
            </a:pPr>
            <a:r>
              <a:rPr lang="en-US" sz="1200" dirty="0">
                <a:solidFill>
                  <a:schemeClr val="bg1"/>
                </a:solidFill>
                <a:effectLst/>
                <a:latin typeface="Cascadia Mono" panose="020B0609020000020004" pitchFamily="49" charset="0"/>
              </a:rPr>
              <a:t>    ASSERT_TRUE(collection-&gt;empty());</a:t>
            </a:r>
          </a:p>
          <a:p>
            <a:pPr>
              <a:buNone/>
            </a:pPr>
            <a:endParaRPr lang="en-US" sz="1200" dirty="0">
              <a:solidFill>
                <a:schemeClr val="bg1"/>
              </a:solidFill>
              <a:effectLst/>
              <a:latin typeface="Cascadia Mono" panose="020B0609020000020004" pitchFamily="49" charset="0"/>
            </a:endParaRPr>
          </a:p>
          <a:p>
            <a:pPr>
              <a:buNone/>
            </a:pPr>
            <a:r>
              <a:rPr lang="en-US" sz="1200" dirty="0">
                <a:solidFill>
                  <a:schemeClr val="bg1"/>
                </a:solidFill>
                <a:effectLst/>
                <a:latin typeface="Cascadia Mono" panose="020B0609020000020004" pitchFamily="49" charset="0"/>
              </a:rPr>
              <a:t>    EXPECT_THROW(collection-&gt;at(0), std::</a:t>
            </a:r>
            <a:r>
              <a:rPr lang="en-US" sz="1200" dirty="0" err="1">
                <a:solidFill>
                  <a:schemeClr val="bg1"/>
                </a:solidFill>
                <a:effectLst/>
                <a:latin typeface="Cascadia Mono" panose="020B0609020000020004" pitchFamily="49" charset="0"/>
              </a:rPr>
              <a:t>out_of_range</a:t>
            </a:r>
            <a:r>
              <a:rPr lang="en-US" sz="1200" dirty="0">
                <a:solidFill>
                  <a:schemeClr val="bg1"/>
                </a:solidFill>
                <a:effectLst/>
                <a:latin typeface="Cascadia Mono" panose="020B0609020000020004" pitchFamily="49" charset="0"/>
              </a:rPr>
              <a:t>);</a:t>
            </a:r>
          </a:p>
          <a:p>
            <a:pPr>
              <a:buNone/>
            </a:pPr>
            <a:r>
              <a:rPr lang="en-US" sz="1200" dirty="0">
                <a:solidFill>
                  <a:schemeClr val="bg1"/>
                </a:solidFill>
                <a:effectLst/>
                <a:latin typeface="Cascadia Mono" panose="020B0609020000020004" pitchFamily="49" charset="0"/>
              </a:rPr>
              <a:t>}</a:t>
            </a:r>
          </a:p>
        </p:txBody>
      </p:sp>
      <p:pic>
        <p:nvPicPr>
          <p:cNvPr id="5" name="Picture 4">
            <a:extLst>
              <a:ext uri="{FF2B5EF4-FFF2-40B4-BE49-F238E27FC236}">
                <a16:creationId xmlns:a16="http://schemas.microsoft.com/office/drawing/2014/main" id="{37B1A025-B90A-C0E9-9A12-578EC2533E9C}"/>
              </a:ext>
            </a:extLst>
          </p:cNvPr>
          <p:cNvPicPr>
            <a:picLocks noChangeAspect="1"/>
          </p:cNvPicPr>
          <p:nvPr/>
        </p:nvPicPr>
        <p:blipFill>
          <a:blip r:embed="rId5"/>
          <a:stretch>
            <a:fillRect/>
          </a:stretch>
        </p:blipFill>
        <p:spPr>
          <a:xfrm>
            <a:off x="6401131" y="4638675"/>
            <a:ext cx="3231620" cy="1454952"/>
          </a:xfrm>
          <a:prstGeom prst="rect">
            <a:avLst/>
          </a:prstGeom>
        </p:spPr>
      </p:pic>
    </p:spTree>
    <p:custDataLst>
      <p:tags r:id="rId1"/>
    </p:custDataLst>
    <p:extLst>
      <p:ext uri="{BB962C8B-B14F-4D97-AF65-F5344CB8AC3E}">
        <p14:creationId xmlns:p14="http://schemas.microsoft.com/office/powerpoint/2010/main" val="26150042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74959B2D-336B-F58A-CE91-B727C72221F6}"/>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A9092C98-F07D-D3F2-8B93-0DFB60382843}"/>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lvl="0"/>
            <a:r>
              <a:rPr lang="en-US" dirty="0"/>
              <a:t>Does Accessing Past the Upper Boundary Throw an Exception?</a:t>
            </a:r>
            <a:endParaRPr dirty="0"/>
          </a:p>
        </p:txBody>
      </p:sp>
      <p:sp>
        <p:nvSpPr>
          <p:cNvPr id="196" name="Google Shape;196;g9504e29505_0_0">
            <a:extLst>
              <a:ext uri="{FF2B5EF4-FFF2-40B4-BE49-F238E27FC236}">
                <a16:creationId xmlns:a16="http://schemas.microsoft.com/office/drawing/2014/main" id="{2CA4684E-C24B-662A-0A3B-202F882D53B7}"/>
              </a:ext>
            </a:extLst>
          </p:cNvPr>
          <p:cNvSpPr txBox="1">
            <a:spLocks noGrp="1"/>
          </p:cNvSpPr>
          <p:nvPr>
            <p:ph type="body" idx="1"/>
          </p:nvPr>
        </p:nvSpPr>
        <p:spPr>
          <a:xfrm>
            <a:off x="685801" y="2194560"/>
            <a:ext cx="5584970" cy="4024200"/>
          </a:xfrm>
          <a:prstGeom prst="rect">
            <a:avLst/>
          </a:prstGeom>
          <a:noFill/>
          <a:ln>
            <a:noFill/>
          </a:ln>
        </p:spPr>
        <p:txBody>
          <a:bodyPr spcFirstLastPara="1" wrap="square" lIns="91425" tIns="45700" rIns="91425" bIns="45700" anchor="t" anchorCtr="0">
            <a:noAutofit/>
          </a:bodyPr>
          <a:lstStyle/>
          <a:p>
            <a:pPr lvl="0"/>
            <a:r>
              <a:rPr lang="en-US" sz="2000" b="1" dirty="0"/>
              <a:t>Test:</a:t>
            </a:r>
            <a:r>
              <a:rPr lang="en-US" sz="2000" dirty="0"/>
              <a:t> </a:t>
            </a:r>
            <a:r>
              <a:rPr lang="en-US" sz="2000" i="1" dirty="0" err="1"/>
              <a:t>AtThrowsOutOfRangeAtUpperBoundary</a:t>
            </a:r>
            <a:r>
              <a:rPr lang="en-US" sz="2000" dirty="0"/>
              <a:t> </a:t>
            </a:r>
          </a:p>
          <a:p>
            <a:pPr lvl="0"/>
            <a:r>
              <a:rPr lang="en-US" sz="2000" b="1" dirty="0"/>
              <a:t>Type:</a:t>
            </a:r>
            <a:r>
              <a:rPr lang="en-US" sz="2000" dirty="0"/>
              <a:t> Negative / Boundary Test </a:t>
            </a:r>
          </a:p>
          <a:p>
            <a:pPr lvl="0"/>
            <a:r>
              <a:rPr lang="en-US" sz="2000" dirty="0"/>
              <a:t>Creates a vector with 5 elements </a:t>
            </a:r>
          </a:p>
          <a:p>
            <a:pPr lvl="0"/>
            <a:r>
              <a:rPr lang="en-US" sz="2000" dirty="0"/>
              <a:t>Valid indexes are 0–4 </a:t>
            </a:r>
          </a:p>
          <a:p>
            <a:pPr lvl="0"/>
            <a:r>
              <a:rPr lang="en-US" sz="2000" dirty="0"/>
              <a:t>Attempts access at collection-&gt;size() </a:t>
            </a:r>
          </a:p>
          <a:p>
            <a:pPr lvl="0"/>
            <a:r>
              <a:rPr lang="en-US" sz="2000" dirty="0"/>
              <a:t>Expected result: std::</a:t>
            </a:r>
            <a:r>
              <a:rPr lang="en-US" sz="2000" dirty="0" err="1"/>
              <a:t>out_of_range</a:t>
            </a:r>
            <a:endParaRPr lang="en-US" sz="2000" dirty="0"/>
          </a:p>
        </p:txBody>
      </p:sp>
      <p:pic>
        <p:nvPicPr>
          <p:cNvPr id="197" name="Google Shape;197;g9504e29505_0_0" descr="Green Pace logo">
            <a:extLst>
              <a:ext uri="{FF2B5EF4-FFF2-40B4-BE49-F238E27FC236}">
                <a16:creationId xmlns:a16="http://schemas.microsoft.com/office/drawing/2014/main" id="{FA2F076B-28DA-8405-99CF-B0DA525C0224}"/>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4" name="TextBox 3">
            <a:extLst>
              <a:ext uri="{FF2B5EF4-FFF2-40B4-BE49-F238E27FC236}">
                <a16:creationId xmlns:a16="http://schemas.microsoft.com/office/drawing/2014/main" id="{383B5F63-950A-8B83-75EE-F3EE5E90D41C}"/>
              </a:ext>
            </a:extLst>
          </p:cNvPr>
          <p:cNvSpPr txBox="1"/>
          <p:nvPr/>
        </p:nvSpPr>
        <p:spPr>
          <a:xfrm>
            <a:off x="6354991" y="2396532"/>
            <a:ext cx="4575863" cy="1754326"/>
          </a:xfrm>
          <a:prstGeom prst="rect">
            <a:avLst/>
          </a:prstGeom>
          <a:noFill/>
          <a:ln>
            <a:solidFill>
              <a:schemeClr val="bg1"/>
            </a:solidFill>
          </a:ln>
        </p:spPr>
        <p:txBody>
          <a:bodyPr wrap="square" rtlCol="0">
            <a:spAutoFit/>
          </a:bodyPr>
          <a:lstStyle/>
          <a:p>
            <a:pPr>
              <a:buNone/>
            </a:pPr>
            <a:r>
              <a:rPr lang="en-US" sz="1200" dirty="0">
                <a:solidFill>
                  <a:schemeClr val="bg1"/>
                </a:solidFill>
                <a:effectLst/>
                <a:latin typeface="Cascadia Mono" panose="020B0609020000020004" pitchFamily="49" charset="0"/>
              </a:rPr>
              <a:t>TEST_F(</a:t>
            </a:r>
            <a:r>
              <a:rPr lang="en-US" sz="1200" dirty="0" err="1">
                <a:solidFill>
                  <a:schemeClr val="bg1"/>
                </a:solidFill>
                <a:effectLst/>
                <a:latin typeface="Cascadia Mono" panose="020B0609020000020004" pitchFamily="49" charset="0"/>
              </a:rPr>
              <a:t>CollectionTest</a:t>
            </a:r>
            <a:r>
              <a:rPr lang="en-US" sz="1200" dirty="0">
                <a:solidFill>
                  <a:schemeClr val="bg1"/>
                </a:solidFill>
                <a:effectLst/>
                <a:latin typeface="Cascadia Mono" panose="020B0609020000020004" pitchFamily="49" charset="0"/>
              </a:rPr>
              <a:t>, </a:t>
            </a:r>
            <a:r>
              <a:rPr lang="en-US" sz="1200" dirty="0" err="1">
                <a:solidFill>
                  <a:schemeClr val="bg1"/>
                </a:solidFill>
                <a:effectLst/>
                <a:latin typeface="Cascadia Mono" panose="020B0609020000020004" pitchFamily="49" charset="0"/>
              </a:rPr>
              <a:t>AtThrowsOutOfRangeAtUpperBoundary</a:t>
            </a:r>
            <a:r>
              <a:rPr lang="en-US" sz="1200" dirty="0">
                <a:solidFill>
                  <a:schemeClr val="bg1"/>
                </a:solidFill>
                <a:effectLst/>
                <a:latin typeface="Cascadia Mono" panose="020B0609020000020004" pitchFamily="49" charset="0"/>
              </a:rPr>
              <a:t>)</a:t>
            </a:r>
          </a:p>
          <a:p>
            <a:pPr>
              <a:buNone/>
            </a:pPr>
            <a:r>
              <a:rPr lang="en-US" sz="1200" dirty="0">
                <a:solidFill>
                  <a:schemeClr val="bg1"/>
                </a:solidFill>
                <a:effectLst/>
                <a:latin typeface="Cascadia Mono" panose="020B0609020000020004" pitchFamily="49" charset="0"/>
              </a:rPr>
              <a:t>{</a:t>
            </a:r>
          </a:p>
          <a:p>
            <a:pPr>
              <a:buNone/>
            </a:pPr>
            <a:r>
              <a:rPr lang="en-US" sz="1200" dirty="0">
                <a:solidFill>
                  <a:schemeClr val="bg1"/>
                </a:solidFill>
                <a:effectLst/>
                <a:latin typeface="Cascadia Mono" panose="020B0609020000020004" pitchFamily="49" charset="0"/>
              </a:rPr>
              <a:t>    </a:t>
            </a:r>
            <a:r>
              <a:rPr lang="en-US" sz="1200" dirty="0" err="1">
                <a:solidFill>
                  <a:schemeClr val="bg1"/>
                </a:solidFill>
                <a:effectLst/>
                <a:latin typeface="Cascadia Mono" panose="020B0609020000020004" pitchFamily="49" charset="0"/>
              </a:rPr>
              <a:t>add_entries</a:t>
            </a:r>
            <a:r>
              <a:rPr lang="en-US" sz="1200" dirty="0">
                <a:solidFill>
                  <a:schemeClr val="bg1"/>
                </a:solidFill>
                <a:effectLst/>
                <a:latin typeface="Cascadia Mono" panose="020B0609020000020004" pitchFamily="49" charset="0"/>
              </a:rPr>
              <a:t>(5);</a:t>
            </a:r>
          </a:p>
          <a:p>
            <a:pPr>
              <a:buNone/>
            </a:pPr>
            <a:r>
              <a:rPr lang="en-US" sz="1200" dirty="0">
                <a:solidFill>
                  <a:schemeClr val="bg1"/>
                </a:solidFill>
                <a:effectLst/>
                <a:latin typeface="Cascadia Mono" panose="020B0609020000020004" pitchFamily="49" charset="0"/>
              </a:rPr>
              <a:t>    ASSERT_EQ(collection-&gt;size(), 5);</a:t>
            </a:r>
          </a:p>
          <a:p>
            <a:pPr>
              <a:buNone/>
            </a:pPr>
            <a:endParaRPr lang="en-US" sz="1200" dirty="0">
              <a:solidFill>
                <a:schemeClr val="bg1"/>
              </a:solidFill>
              <a:effectLst/>
              <a:latin typeface="Cascadia Mono" panose="020B0609020000020004" pitchFamily="49" charset="0"/>
            </a:endParaRPr>
          </a:p>
          <a:p>
            <a:pPr>
              <a:buNone/>
            </a:pPr>
            <a:r>
              <a:rPr lang="en-US" sz="1200" dirty="0">
                <a:solidFill>
                  <a:schemeClr val="bg1"/>
                </a:solidFill>
                <a:effectLst/>
                <a:latin typeface="Cascadia Mono" panose="020B0609020000020004" pitchFamily="49" charset="0"/>
              </a:rPr>
              <a:t>    EXPECT_THROW(collection-&gt;at(collection-&gt;size()), std::</a:t>
            </a:r>
            <a:r>
              <a:rPr lang="en-US" sz="1200" dirty="0" err="1">
                <a:solidFill>
                  <a:schemeClr val="bg1"/>
                </a:solidFill>
                <a:effectLst/>
                <a:latin typeface="Cascadia Mono" panose="020B0609020000020004" pitchFamily="49" charset="0"/>
              </a:rPr>
              <a:t>out_of_range</a:t>
            </a:r>
            <a:r>
              <a:rPr lang="en-US" sz="1200" dirty="0">
                <a:solidFill>
                  <a:schemeClr val="bg1"/>
                </a:solidFill>
                <a:effectLst/>
                <a:latin typeface="Cascadia Mono" panose="020B0609020000020004" pitchFamily="49" charset="0"/>
              </a:rPr>
              <a:t>);</a:t>
            </a:r>
          </a:p>
          <a:p>
            <a:pPr>
              <a:buNone/>
            </a:pPr>
            <a:r>
              <a:rPr lang="en-US" sz="1200" dirty="0">
                <a:solidFill>
                  <a:schemeClr val="bg1"/>
                </a:solidFill>
                <a:effectLst/>
                <a:latin typeface="Cascadia Mono" panose="020B0609020000020004" pitchFamily="49" charset="0"/>
              </a:rPr>
              <a:t>}</a:t>
            </a:r>
          </a:p>
        </p:txBody>
      </p:sp>
      <p:pic>
        <p:nvPicPr>
          <p:cNvPr id="6" name="Picture 5">
            <a:extLst>
              <a:ext uri="{FF2B5EF4-FFF2-40B4-BE49-F238E27FC236}">
                <a16:creationId xmlns:a16="http://schemas.microsoft.com/office/drawing/2014/main" id="{5BDE2896-7367-11C6-5E88-EC7D792BC5CA}"/>
              </a:ext>
            </a:extLst>
          </p:cNvPr>
          <p:cNvPicPr>
            <a:picLocks noChangeAspect="1"/>
          </p:cNvPicPr>
          <p:nvPr/>
        </p:nvPicPr>
        <p:blipFill>
          <a:blip r:embed="rId5"/>
          <a:stretch>
            <a:fillRect/>
          </a:stretch>
        </p:blipFill>
        <p:spPr>
          <a:xfrm>
            <a:off x="6401131" y="4638675"/>
            <a:ext cx="3231620" cy="1454952"/>
          </a:xfrm>
          <a:prstGeom prst="rect">
            <a:avLst/>
          </a:prstGeom>
        </p:spPr>
      </p:pic>
    </p:spTree>
    <p:custDataLst>
      <p:tags r:id="rId1"/>
    </p:custDataLst>
    <p:extLst>
      <p:ext uri="{BB962C8B-B14F-4D97-AF65-F5344CB8AC3E}">
        <p14:creationId xmlns:p14="http://schemas.microsoft.com/office/powerpoint/2010/main" val="33249104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AUTOMATION SUMMARY</a:t>
            </a:r>
            <a:endParaRPr dirty="0"/>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2127250" y="2199481"/>
            <a:ext cx="7937500" cy="4013200"/>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TOOLS</a:t>
            </a:r>
            <a:endParaRPr dirty="0"/>
          </a:p>
        </p:txBody>
      </p:sp>
      <p:sp>
        <p:nvSpPr>
          <p:cNvPr id="210" name="Google Shape;210;p10"/>
          <p:cNvSpPr txBox="1">
            <a:spLocks noGrp="1"/>
          </p:cNvSpPr>
          <p:nvPr>
            <p:ph type="body" idx="1"/>
          </p:nvPr>
        </p:nvSpPr>
        <p:spPr>
          <a:xfrm>
            <a:off x="119892" y="1695416"/>
            <a:ext cx="5551415" cy="4024125"/>
          </a:xfrm>
          <a:prstGeom prst="rect">
            <a:avLst/>
          </a:prstGeom>
          <a:noFill/>
          <a:ln>
            <a:noFill/>
          </a:ln>
        </p:spPr>
        <p:txBody>
          <a:bodyPr spcFirstLastPara="1" wrap="square" lIns="91425" tIns="45700" rIns="91425" bIns="45700" anchor="t" anchorCtr="0">
            <a:normAutofit/>
          </a:bodyPr>
          <a:lstStyle/>
          <a:p>
            <a:pPr marL="114300" indent="0">
              <a:buNone/>
            </a:pPr>
            <a:r>
              <a:rPr lang="en-US" sz="1400" b="1" dirty="0"/>
              <a:t>Visual Studio Code Analysis</a:t>
            </a:r>
            <a:endParaRPr lang="en-US" sz="1400" dirty="0"/>
          </a:p>
          <a:p>
            <a:pPr lvl="0"/>
            <a:r>
              <a:rPr lang="en-US" sz="1400" dirty="0"/>
              <a:t>Compiler/static warnings </a:t>
            </a:r>
          </a:p>
          <a:p>
            <a:pPr lvl="0"/>
            <a:r>
              <a:rPr lang="en-US" sz="1400" dirty="0"/>
              <a:t>Fast developer feedback </a:t>
            </a:r>
          </a:p>
          <a:p>
            <a:pPr marL="114300" indent="0">
              <a:buNone/>
            </a:pPr>
            <a:r>
              <a:rPr lang="en-US" sz="1400" b="1" dirty="0" err="1"/>
              <a:t>Cppcheck</a:t>
            </a:r>
            <a:endParaRPr lang="en-US" sz="1400" dirty="0"/>
          </a:p>
          <a:p>
            <a:pPr lvl="0"/>
            <a:r>
              <a:rPr lang="en-US" sz="1400" dirty="0"/>
              <a:t>Independent C/C++ static analysis </a:t>
            </a:r>
          </a:p>
          <a:p>
            <a:pPr lvl="0"/>
            <a:r>
              <a:rPr lang="en-US" sz="1400" dirty="0"/>
              <a:t>Finds correctness, memory, and style defects </a:t>
            </a:r>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2" name="Google Shape;210;p10">
            <a:extLst>
              <a:ext uri="{FF2B5EF4-FFF2-40B4-BE49-F238E27FC236}">
                <a16:creationId xmlns:a16="http://schemas.microsoft.com/office/drawing/2014/main" id="{0D195483-2D23-96E8-190C-5225031776B4}"/>
              </a:ext>
            </a:extLst>
          </p:cNvPr>
          <p:cNvSpPr txBox="1">
            <a:spLocks/>
          </p:cNvSpPr>
          <p:nvPr/>
        </p:nvSpPr>
        <p:spPr>
          <a:xfrm>
            <a:off x="5628315" y="1499027"/>
            <a:ext cx="5551415" cy="402412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lt1"/>
              </a:buClr>
              <a:buSzPts val="18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42900" algn="l" rtl="0">
              <a:lnSpc>
                <a:spcPct val="90000"/>
              </a:lnSpc>
              <a:spcBef>
                <a:spcPts val="500"/>
              </a:spcBef>
              <a:spcAft>
                <a:spcPts val="0"/>
              </a:spcAft>
              <a:buClr>
                <a:schemeClr val="lt1"/>
              </a:buClr>
              <a:buSzPts val="18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9pPr>
          </a:lstStyle>
          <a:p>
            <a:pPr marL="114300" indent="0">
              <a:buFont typeface="Arial"/>
              <a:buNone/>
            </a:pPr>
            <a:r>
              <a:rPr lang="en-US" sz="1400" b="1" dirty="0" err="1"/>
              <a:t>CodeQL</a:t>
            </a:r>
            <a:endParaRPr lang="en-US" sz="1400" dirty="0"/>
          </a:p>
          <a:p>
            <a:r>
              <a:rPr lang="en-US" sz="1400" dirty="0"/>
              <a:t>Security-focused static analysis </a:t>
            </a:r>
          </a:p>
          <a:p>
            <a:r>
              <a:rPr lang="en-US" sz="1400" dirty="0"/>
              <a:t>Queries code for vulnerability patterns </a:t>
            </a:r>
          </a:p>
          <a:p>
            <a:pPr marL="114300" indent="0">
              <a:buFont typeface="Arial"/>
              <a:buNone/>
            </a:pPr>
            <a:r>
              <a:rPr lang="en-US" sz="1400" b="1" dirty="0"/>
              <a:t>Google Test</a:t>
            </a:r>
            <a:endParaRPr lang="en-US" sz="1400" dirty="0"/>
          </a:p>
          <a:p>
            <a:r>
              <a:rPr lang="en-US" sz="1400" dirty="0"/>
              <a:t>Positive, negative, and boundary unit tests </a:t>
            </a:r>
          </a:p>
          <a:p>
            <a:pPr marL="114300" indent="0">
              <a:buFont typeface="Arial"/>
              <a:buNone/>
            </a:pPr>
            <a:r>
              <a:rPr lang="en-US" sz="1400" b="1" dirty="0"/>
              <a:t>Fuzz Testing</a:t>
            </a:r>
            <a:endParaRPr lang="en-US" sz="1400" dirty="0"/>
          </a:p>
          <a:p>
            <a:r>
              <a:rPr lang="en-US" sz="1400" dirty="0"/>
              <a:t>Sends abnormal inputs automatically</a:t>
            </a:r>
          </a:p>
        </p:txBody>
      </p:sp>
      <p:pic>
        <p:nvPicPr>
          <p:cNvPr id="4" name="Picture 3">
            <a:extLst>
              <a:ext uri="{FF2B5EF4-FFF2-40B4-BE49-F238E27FC236}">
                <a16:creationId xmlns:a16="http://schemas.microsoft.com/office/drawing/2014/main" id="{07650DEF-50DF-0B5F-97B0-BE9F0347BDCD}"/>
              </a:ext>
            </a:extLst>
          </p:cNvPr>
          <p:cNvPicPr>
            <a:picLocks noChangeAspect="1"/>
          </p:cNvPicPr>
          <p:nvPr/>
        </p:nvPicPr>
        <p:blipFill>
          <a:blip r:embed="rId5"/>
          <a:stretch>
            <a:fillRect/>
          </a:stretch>
        </p:blipFill>
        <p:spPr>
          <a:xfrm>
            <a:off x="64659" y="4245657"/>
            <a:ext cx="4833138" cy="2012150"/>
          </a:xfrm>
          <a:prstGeom prst="rect">
            <a:avLst/>
          </a:prstGeom>
        </p:spPr>
      </p:pic>
      <p:pic>
        <p:nvPicPr>
          <p:cNvPr id="8" name="Picture 7">
            <a:extLst>
              <a:ext uri="{FF2B5EF4-FFF2-40B4-BE49-F238E27FC236}">
                <a16:creationId xmlns:a16="http://schemas.microsoft.com/office/drawing/2014/main" id="{97B2C1F4-A7A9-96CB-64DB-565773104098}"/>
              </a:ext>
            </a:extLst>
          </p:cNvPr>
          <p:cNvPicPr>
            <a:picLocks noChangeAspect="1"/>
          </p:cNvPicPr>
          <p:nvPr/>
        </p:nvPicPr>
        <p:blipFill>
          <a:blip r:embed="rId6"/>
          <a:stretch>
            <a:fillRect/>
          </a:stretch>
        </p:blipFill>
        <p:spPr>
          <a:xfrm>
            <a:off x="5028502" y="4245657"/>
            <a:ext cx="5915080" cy="2012149"/>
          </a:xfrm>
          <a:prstGeom prst="rect">
            <a:avLst/>
          </a:prstGeom>
        </p:spPr>
      </p:pic>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sp>
        <p:nvSpPr>
          <p:cNvPr id="217" name="Google Shape;217;p11"/>
          <p:cNvSpPr txBox="1">
            <a:spLocks noGrp="1"/>
          </p:cNvSpPr>
          <p:nvPr>
            <p:ph type="body" idx="1"/>
          </p:nvPr>
        </p:nvSpPr>
        <p:spPr>
          <a:xfrm>
            <a:off x="685800" y="2194560"/>
            <a:ext cx="5014519" cy="4024125"/>
          </a:xfrm>
          <a:prstGeom prst="rect">
            <a:avLst/>
          </a:prstGeom>
          <a:noFill/>
          <a:ln>
            <a:noFill/>
          </a:ln>
        </p:spPr>
        <p:txBody>
          <a:bodyPr spcFirstLastPara="1" wrap="square" lIns="91425" tIns="45700" rIns="91425" bIns="45700" anchor="t" anchorCtr="0">
            <a:normAutofit fontScale="92500"/>
          </a:bodyPr>
          <a:lstStyle/>
          <a:p>
            <a:pPr marL="114300" indent="0">
              <a:buNone/>
            </a:pPr>
            <a:r>
              <a:rPr lang="en-US" b="1" dirty="0"/>
              <a:t>Problem</a:t>
            </a:r>
            <a:endParaRPr lang="en-US" dirty="0"/>
          </a:p>
          <a:p>
            <a:pPr lvl="0"/>
            <a:r>
              <a:rPr lang="en-US" dirty="0"/>
              <a:t>Existing vulnerabilities and technical debt </a:t>
            </a:r>
          </a:p>
          <a:p>
            <a:pPr lvl="0"/>
            <a:r>
              <a:rPr lang="en-US" dirty="0"/>
              <a:t>Inconsistent developer practices </a:t>
            </a:r>
          </a:p>
          <a:p>
            <a:pPr lvl="0"/>
            <a:r>
              <a:rPr lang="en-US" dirty="0"/>
              <a:t>Security discovered too late </a:t>
            </a:r>
          </a:p>
          <a:p>
            <a:pPr marL="114300" indent="0">
              <a:buNone/>
            </a:pPr>
            <a:r>
              <a:rPr lang="en-US" b="1" dirty="0"/>
              <a:t>Act Now</a:t>
            </a:r>
            <a:endParaRPr lang="en-US" dirty="0"/>
          </a:p>
          <a:p>
            <a:pPr lvl="0"/>
            <a:r>
              <a:rPr lang="en-US" dirty="0"/>
              <a:t>Lower remediation cost </a:t>
            </a:r>
          </a:p>
          <a:p>
            <a:pPr lvl="0"/>
            <a:r>
              <a:rPr lang="en-US" dirty="0"/>
              <a:t>Reduced breach likelihood </a:t>
            </a:r>
          </a:p>
          <a:p>
            <a:pPr lvl="0"/>
            <a:r>
              <a:rPr lang="en-US" dirty="0"/>
              <a:t>Better audit readiness </a:t>
            </a:r>
          </a:p>
          <a:p>
            <a:pPr lvl="0"/>
            <a:r>
              <a:rPr lang="en-US" dirty="0"/>
              <a:t>Consistent secure development </a:t>
            </a:r>
          </a:p>
          <a:p>
            <a:pPr marL="0" lvl="0" indent="0" algn="l" rtl="0">
              <a:lnSpc>
                <a:spcPct val="90000"/>
              </a:lnSpc>
              <a:spcBef>
                <a:spcPts val="0"/>
              </a:spcBef>
              <a:spcAft>
                <a:spcPts val="0"/>
              </a:spcAft>
              <a:buClr>
                <a:schemeClr val="lt1"/>
              </a:buClr>
              <a:buSzPts val="2000"/>
              <a:buNone/>
            </a:pPr>
            <a:endParaRPr dirty="0"/>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2" name="Google Shape;217;p11">
            <a:extLst>
              <a:ext uri="{FF2B5EF4-FFF2-40B4-BE49-F238E27FC236}">
                <a16:creationId xmlns:a16="http://schemas.microsoft.com/office/drawing/2014/main" id="{A5431118-1FE6-EFFE-65FF-64D1C88F7F18}"/>
              </a:ext>
            </a:extLst>
          </p:cNvPr>
          <p:cNvSpPr txBox="1">
            <a:spLocks/>
          </p:cNvSpPr>
          <p:nvPr/>
        </p:nvSpPr>
        <p:spPr>
          <a:xfrm>
            <a:off x="5544424" y="2194559"/>
            <a:ext cx="5014519" cy="402412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lt1"/>
              </a:buClr>
              <a:buSzPts val="18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42900" algn="l" rtl="0">
              <a:lnSpc>
                <a:spcPct val="90000"/>
              </a:lnSpc>
              <a:spcBef>
                <a:spcPts val="500"/>
              </a:spcBef>
              <a:spcAft>
                <a:spcPts val="0"/>
              </a:spcAft>
              <a:buClr>
                <a:schemeClr val="lt1"/>
              </a:buClr>
              <a:buSzPts val="18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9pPr>
          </a:lstStyle>
          <a:p>
            <a:pPr marL="114300" indent="0">
              <a:buFont typeface="Arial"/>
              <a:buNone/>
            </a:pPr>
            <a:r>
              <a:rPr lang="en-US" b="1" dirty="0"/>
              <a:t>Wait</a:t>
            </a:r>
            <a:endParaRPr lang="en-US" dirty="0"/>
          </a:p>
          <a:p>
            <a:r>
              <a:rPr lang="en-US" dirty="0"/>
              <a:t>Greater technical debt </a:t>
            </a:r>
          </a:p>
          <a:p>
            <a:r>
              <a:rPr lang="en-US" dirty="0"/>
              <a:t>Larger attack surface </a:t>
            </a:r>
          </a:p>
          <a:p>
            <a:r>
              <a:rPr lang="en-US" dirty="0"/>
              <a:t>Higher remediation cost </a:t>
            </a:r>
          </a:p>
          <a:p>
            <a:r>
              <a:rPr lang="en-US" dirty="0"/>
              <a:t>Greater operational and reputational impact </a:t>
            </a:r>
          </a:p>
          <a:p>
            <a:pPr marL="114300" indent="0">
              <a:buFont typeface="Arial"/>
              <a:buNone/>
            </a:pPr>
            <a:r>
              <a:rPr lang="en-US" b="1" dirty="0"/>
              <a:t>Limitation</a:t>
            </a:r>
            <a:endParaRPr lang="en-US" dirty="0"/>
          </a:p>
          <a:p>
            <a:r>
              <a:rPr lang="en-US" dirty="0"/>
              <a:t>Automated tools can produce false positives and miss business-logic flaws</a:t>
            </a:r>
          </a:p>
          <a:p>
            <a:pPr marL="0" indent="0">
              <a:spcBef>
                <a:spcPts val="0"/>
              </a:spcBef>
              <a:buSzPts val="2000"/>
              <a:buFont typeface="Arial"/>
              <a:buNone/>
            </a:pPr>
            <a:endParaRPr lang="en-US" dirty="0"/>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sp>
        <p:nvSpPr>
          <p:cNvPr id="224" name="Google Shape;224;p12"/>
          <p:cNvSpPr txBox="1">
            <a:spLocks noGrp="1"/>
          </p:cNvSpPr>
          <p:nvPr>
            <p:ph type="body" idx="1"/>
          </p:nvPr>
        </p:nvSpPr>
        <p:spPr>
          <a:xfrm>
            <a:off x="685800" y="2194560"/>
            <a:ext cx="6784596" cy="4024125"/>
          </a:xfrm>
          <a:prstGeom prst="rect">
            <a:avLst/>
          </a:prstGeom>
          <a:noFill/>
          <a:ln>
            <a:noFill/>
          </a:ln>
        </p:spPr>
        <p:txBody>
          <a:bodyPr spcFirstLastPara="1" wrap="square" lIns="91425" tIns="45700" rIns="91425" bIns="45700" anchor="t" anchorCtr="0">
            <a:normAutofit fontScale="77500" lnSpcReduction="20000"/>
          </a:bodyPr>
          <a:lstStyle/>
          <a:p>
            <a:pPr marL="114300" indent="0">
              <a:buNone/>
            </a:pPr>
            <a:r>
              <a:rPr lang="en-US" b="1" dirty="0"/>
              <a:t>Current Policy Gaps</a:t>
            </a:r>
            <a:endParaRPr lang="en-US" dirty="0"/>
          </a:p>
          <a:p>
            <a:pPr lvl="0"/>
            <a:r>
              <a:rPr lang="en-US" dirty="0"/>
              <a:t>Software dependency and supply-chain scanning </a:t>
            </a:r>
          </a:p>
          <a:p>
            <a:pPr lvl="0"/>
            <a:r>
              <a:rPr lang="en-US" dirty="0"/>
              <a:t>Secrets management </a:t>
            </a:r>
          </a:p>
          <a:p>
            <a:pPr lvl="0"/>
            <a:r>
              <a:rPr lang="en-US" dirty="0"/>
              <a:t>Software Bill of Materials (SBOM) </a:t>
            </a:r>
          </a:p>
          <a:p>
            <a:pPr lvl="0"/>
            <a:r>
              <a:rPr lang="en-US" dirty="0"/>
              <a:t>Formal fuzz-testing requirements </a:t>
            </a:r>
          </a:p>
          <a:p>
            <a:pPr lvl="0"/>
            <a:r>
              <a:rPr lang="en-US" dirty="0"/>
              <a:t>Security metrics and remediation deadlines </a:t>
            </a:r>
          </a:p>
          <a:p>
            <a:pPr lvl="0"/>
            <a:r>
              <a:rPr lang="en-US" dirty="0"/>
              <a:t>More explicit incident-response testing </a:t>
            </a:r>
          </a:p>
          <a:p>
            <a:pPr marL="114300" indent="0">
              <a:buNone/>
            </a:pPr>
            <a:r>
              <a:rPr lang="en-US" b="1" dirty="0"/>
              <a:t>Recommended Improvements</a:t>
            </a:r>
            <a:endParaRPr lang="en-US" dirty="0"/>
          </a:p>
          <a:p>
            <a:pPr lvl="0"/>
            <a:r>
              <a:rPr lang="en-US" dirty="0"/>
              <a:t>Add automated SCA to CI/CD </a:t>
            </a:r>
          </a:p>
          <a:p>
            <a:pPr lvl="0"/>
            <a:r>
              <a:rPr lang="en-US" dirty="0"/>
              <a:t>Centralize credentials and keys </a:t>
            </a:r>
          </a:p>
          <a:p>
            <a:pPr lvl="0"/>
            <a:r>
              <a:rPr lang="en-US" dirty="0"/>
              <a:t>Track vulnerabilities by severity </a:t>
            </a:r>
          </a:p>
          <a:p>
            <a:pPr lvl="0"/>
            <a:r>
              <a:rPr lang="en-US" dirty="0"/>
              <a:t>Review policy after incidents and major system changes</a:t>
            </a:r>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2" name="TextBox 1">
            <a:extLst>
              <a:ext uri="{FF2B5EF4-FFF2-40B4-BE49-F238E27FC236}">
                <a16:creationId xmlns:a16="http://schemas.microsoft.com/office/drawing/2014/main" id="{553D0530-8089-270C-B349-FEAF17F4CB09}"/>
              </a:ext>
            </a:extLst>
          </p:cNvPr>
          <p:cNvSpPr txBox="1"/>
          <p:nvPr/>
        </p:nvSpPr>
        <p:spPr>
          <a:xfrm>
            <a:off x="8494963" y="3244442"/>
            <a:ext cx="2322642" cy="1323439"/>
          </a:xfrm>
          <a:custGeom>
            <a:avLst/>
            <a:gdLst>
              <a:gd name="csX0" fmla="*/ 0 w 2322642"/>
              <a:gd name="csY0" fmla="*/ 0 h 1323439"/>
              <a:gd name="csX1" fmla="*/ 603887 w 2322642"/>
              <a:gd name="csY1" fmla="*/ 0 h 1323439"/>
              <a:gd name="csX2" fmla="*/ 1138095 w 2322642"/>
              <a:gd name="csY2" fmla="*/ 0 h 1323439"/>
              <a:gd name="csX3" fmla="*/ 1741982 w 2322642"/>
              <a:gd name="csY3" fmla="*/ 0 h 1323439"/>
              <a:gd name="csX4" fmla="*/ 2322642 w 2322642"/>
              <a:gd name="csY4" fmla="*/ 0 h 1323439"/>
              <a:gd name="csX5" fmla="*/ 2322642 w 2322642"/>
              <a:gd name="csY5" fmla="*/ 688188 h 1323439"/>
              <a:gd name="csX6" fmla="*/ 2322642 w 2322642"/>
              <a:gd name="csY6" fmla="*/ 1323439 h 1323439"/>
              <a:gd name="csX7" fmla="*/ 1718755 w 2322642"/>
              <a:gd name="csY7" fmla="*/ 1323439 h 1323439"/>
              <a:gd name="csX8" fmla="*/ 1207774 w 2322642"/>
              <a:gd name="csY8" fmla="*/ 1323439 h 1323439"/>
              <a:gd name="csX9" fmla="*/ 696793 w 2322642"/>
              <a:gd name="csY9" fmla="*/ 1323439 h 1323439"/>
              <a:gd name="csX10" fmla="*/ 0 w 2322642"/>
              <a:gd name="csY10" fmla="*/ 1323439 h 1323439"/>
              <a:gd name="csX11" fmla="*/ 0 w 2322642"/>
              <a:gd name="csY11" fmla="*/ 674954 h 1323439"/>
              <a:gd name="csX12" fmla="*/ 0 w 2322642"/>
              <a:gd name="csY12" fmla="*/ 0 h 13234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322642" h="1323439" extrusionOk="0">
                <a:moveTo>
                  <a:pt x="0" y="0"/>
                </a:moveTo>
                <a:cubicBezTo>
                  <a:pt x="249290" y="22985"/>
                  <a:pt x="430106" y="-21349"/>
                  <a:pt x="603887" y="0"/>
                </a:cubicBezTo>
                <a:cubicBezTo>
                  <a:pt x="777668" y="21349"/>
                  <a:pt x="1004865" y="-687"/>
                  <a:pt x="1138095" y="0"/>
                </a:cubicBezTo>
                <a:cubicBezTo>
                  <a:pt x="1271325" y="687"/>
                  <a:pt x="1469920" y="23467"/>
                  <a:pt x="1741982" y="0"/>
                </a:cubicBezTo>
                <a:cubicBezTo>
                  <a:pt x="2014044" y="-23467"/>
                  <a:pt x="2112197" y="-25601"/>
                  <a:pt x="2322642" y="0"/>
                </a:cubicBezTo>
                <a:cubicBezTo>
                  <a:pt x="2339598" y="286098"/>
                  <a:pt x="2328392" y="432239"/>
                  <a:pt x="2322642" y="688188"/>
                </a:cubicBezTo>
                <a:cubicBezTo>
                  <a:pt x="2316892" y="944137"/>
                  <a:pt x="2321813" y="1067199"/>
                  <a:pt x="2322642" y="1323439"/>
                </a:cubicBezTo>
                <a:cubicBezTo>
                  <a:pt x="2122341" y="1307637"/>
                  <a:pt x="1956623" y="1341104"/>
                  <a:pt x="1718755" y="1323439"/>
                </a:cubicBezTo>
                <a:cubicBezTo>
                  <a:pt x="1480887" y="1305774"/>
                  <a:pt x="1348123" y="1329220"/>
                  <a:pt x="1207774" y="1323439"/>
                </a:cubicBezTo>
                <a:cubicBezTo>
                  <a:pt x="1067425" y="1317658"/>
                  <a:pt x="806387" y="1312787"/>
                  <a:pt x="696793" y="1323439"/>
                </a:cubicBezTo>
                <a:cubicBezTo>
                  <a:pt x="587199" y="1334091"/>
                  <a:pt x="240977" y="1326983"/>
                  <a:pt x="0" y="1323439"/>
                </a:cubicBezTo>
                <a:cubicBezTo>
                  <a:pt x="18552" y="1103529"/>
                  <a:pt x="16464" y="938440"/>
                  <a:pt x="0" y="674954"/>
                </a:cubicBezTo>
                <a:cubicBezTo>
                  <a:pt x="-16464" y="411468"/>
                  <a:pt x="756" y="137466"/>
                  <a:pt x="0" y="0"/>
                </a:cubicBezTo>
                <a:close/>
              </a:path>
            </a:pathLst>
          </a:custGeom>
          <a:noFill/>
          <a:ln>
            <a:solidFill>
              <a:schemeClr val="bg1"/>
            </a:solidFill>
            <a:prstDash val="solid"/>
            <a:extLst>
              <a:ext uri="{C807C97D-BFC1-408E-A445-0C87EB9F89A2}">
                <ask:lineSketchStyleProps xmlns:ask="http://schemas.microsoft.com/office/drawing/2018/sketchyshapes" sd="4039822483">
                  <a:prstGeom prst="rect">
                    <a:avLst/>
                  </a:prstGeom>
                  <ask:type>
                    <ask:lineSketchFreehand/>
                  </ask:type>
                </ask:lineSketchStyleProps>
              </a:ext>
            </a:extLst>
          </a:ln>
        </p:spPr>
        <p:txBody>
          <a:bodyPr wrap="square" rtlCol="0">
            <a:spAutoFit/>
          </a:bodyPr>
          <a:lstStyle/>
          <a:p>
            <a:r>
              <a:rPr lang="en-US" sz="2000" b="1" i="1" dirty="0">
                <a:solidFill>
                  <a:schemeClr val="bg1"/>
                </a:solidFill>
                <a:latin typeface="Century Gothic" panose="020B0502020202020204" pitchFamily="34" charset="0"/>
              </a:rPr>
              <a:t>Security should be continuous, not a final release step</a:t>
            </a: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type="body" idx="1"/>
          </p:nvPr>
        </p:nvSpPr>
        <p:spPr>
          <a:xfrm>
            <a:off x="312490" y="2203786"/>
            <a:ext cx="5563998" cy="4024125"/>
          </a:xfrm>
          <a:prstGeom prst="rect">
            <a:avLst/>
          </a:prstGeom>
          <a:noFill/>
          <a:ln>
            <a:noFill/>
          </a:ln>
        </p:spPr>
        <p:txBody>
          <a:bodyPr spcFirstLastPara="1" wrap="square" lIns="91425" tIns="45700" rIns="91425" bIns="45700" anchor="t" anchorCtr="0">
            <a:normAutofit/>
          </a:bodyPr>
          <a:lstStyle/>
          <a:p>
            <a:pPr marL="114300" indent="0">
              <a:buNone/>
            </a:pPr>
            <a:r>
              <a:rPr lang="en-US" b="1" dirty="0"/>
              <a:t>Standards to Maintain / Adopt</a:t>
            </a:r>
            <a:endParaRPr lang="en-US" dirty="0"/>
          </a:p>
          <a:p>
            <a:pPr lvl="0"/>
            <a:r>
              <a:rPr lang="en-US" dirty="0"/>
              <a:t>SEI CERT C++ Coding Standard </a:t>
            </a:r>
          </a:p>
          <a:p>
            <a:pPr lvl="0"/>
            <a:r>
              <a:rPr lang="en-US" dirty="0"/>
              <a:t>NIST Secure Software Development Framework </a:t>
            </a:r>
          </a:p>
          <a:p>
            <a:pPr lvl="0"/>
            <a:r>
              <a:rPr lang="en-US" dirty="0"/>
              <a:t>OWASP application-security guidance </a:t>
            </a:r>
          </a:p>
          <a:p>
            <a:pPr lvl="0"/>
            <a:r>
              <a:rPr lang="en-US" dirty="0"/>
              <a:t>CWE vulnerability classifications </a:t>
            </a:r>
          </a:p>
          <a:p>
            <a:pPr lvl="0"/>
            <a:r>
              <a:rPr lang="en-US" dirty="0"/>
              <a:t>Green Pace internal secure coding requirements </a:t>
            </a:r>
          </a:p>
          <a:p>
            <a:pPr marL="228600" lvl="0" indent="-88900" algn="l" rtl="0">
              <a:lnSpc>
                <a:spcPct val="90000"/>
              </a:lnSpc>
              <a:spcBef>
                <a:spcPts val="1000"/>
              </a:spcBef>
              <a:spcAft>
                <a:spcPts val="0"/>
              </a:spcAft>
              <a:buClr>
                <a:schemeClr val="lt1"/>
              </a:buClr>
              <a:buSzPts val="2200"/>
              <a:buNone/>
            </a:pPr>
            <a:endParaRPr dirty="0"/>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2" name="Google Shape;231;p13">
            <a:extLst>
              <a:ext uri="{FF2B5EF4-FFF2-40B4-BE49-F238E27FC236}">
                <a16:creationId xmlns:a16="http://schemas.microsoft.com/office/drawing/2014/main" id="{E78643FF-9D3C-19DA-5AB6-952B75652D1D}"/>
              </a:ext>
            </a:extLst>
          </p:cNvPr>
          <p:cNvSpPr txBox="1">
            <a:spLocks/>
          </p:cNvSpPr>
          <p:nvPr/>
        </p:nvSpPr>
        <p:spPr>
          <a:xfrm>
            <a:off x="5762538" y="2194559"/>
            <a:ext cx="5514483" cy="402412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lt1"/>
              </a:buClr>
              <a:buSzPts val="18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42900" algn="l" rtl="0">
              <a:lnSpc>
                <a:spcPct val="90000"/>
              </a:lnSpc>
              <a:spcBef>
                <a:spcPts val="500"/>
              </a:spcBef>
              <a:spcAft>
                <a:spcPts val="0"/>
              </a:spcAft>
              <a:buClr>
                <a:schemeClr val="lt1"/>
              </a:buClr>
              <a:buSzPts val="18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9pPr>
          </a:lstStyle>
          <a:p>
            <a:pPr marL="114300" indent="0">
              <a:buNone/>
            </a:pPr>
            <a:r>
              <a:rPr lang="en-US" b="1" dirty="0"/>
              <a:t>Future Direction</a:t>
            </a:r>
            <a:endParaRPr lang="en-US" dirty="0"/>
          </a:p>
          <a:p>
            <a:r>
              <a:rPr lang="en-US" dirty="0"/>
              <a:t>Security from design through production </a:t>
            </a:r>
          </a:p>
          <a:p>
            <a:r>
              <a:rPr lang="en-US" dirty="0"/>
              <a:t>Automated enforcement </a:t>
            </a:r>
          </a:p>
          <a:p>
            <a:r>
              <a:rPr lang="en-US" dirty="0"/>
              <a:t>Continuous testing </a:t>
            </a:r>
          </a:p>
          <a:p>
            <a:r>
              <a:rPr lang="en-US" dirty="0"/>
              <a:t>Annual and incident-driven policy review </a:t>
            </a:r>
          </a:p>
          <a:p>
            <a:r>
              <a:rPr lang="en-US" dirty="0"/>
              <a:t>Assume vulnerabilities and maintain layered defenses</a:t>
            </a:r>
          </a:p>
          <a:p>
            <a:pPr marL="228600" indent="-88900">
              <a:buSzPts val="2200"/>
              <a:buFont typeface="Arial"/>
              <a:buNone/>
            </a:pPr>
            <a:endParaRPr lang="en-US" dirty="0"/>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REFERENCES</a:t>
            </a:r>
            <a:endParaRPr dirty="0"/>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lnSpcReduction="10000"/>
          </a:bodyPr>
          <a:lstStyle/>
          <a:p>
            <a:pPr marL="228600" indent="-228600" algn="ctr">
              <a:spcBef>
                <a:spcPts val="0"/>
              </a:spcBef>
              <a:buSzPts val="2200"/>
            </a:pPr>
            <a:r>
              <a:rPr lang="en-US" sz="2000" dirty="0" err="1"/>
              <a:t>Souppaya</a:t>
            </a:r>
            <a:r>
              <a:rPr lang="en-US" sz="2000" dirty="0"/>
              <a:t>, M., Scarfone, K., &amp; Dodson, D. (2022). Secure software development framework (SSDF) version 1.1. </a:t>
            </a:r>
            <a:r>
              <a:rPr lang="en-US" sz="2000" i="1" dirty="0"/>
              <a:t>NIST Special Publication 800-218</a:t>
            </a:r>
            <a:r>
              <a:rPr lang="en-US" sz="2000" dirty="0"/>
              <a:t>, </a:t>
            </a:r>
            <a:r>
              <a:rPr lang="en-US" sz="2000" i="1" dirty="0"/>
              <a:t>1</a:t>
            </a:r>
            <a:r>
              <a:rPr lang="en-US" sz="2000" dirty="0"/>
              <a:t>(1). </a:t>
            </a:r>
            <a:r>
              <a:rPr lang="en-US" sz="2000" dirty="0">
                <a:hlinkClick r:id="rId4"/>
              </a:rPr>
              <a:t>https://doi.org/10.6028/nist.sp.800-218</a:t>
            </a:r>
            <a:endParaRPr lang="en-US" sz="2000" dirty="0"/>
          </a:p>
          <a:p>
            <a:pPr marL="0" indent="0" algn="ctr">
              <a:spcBef>
                <a:spcPts val="0"/>
              </a:spcBef>
              <a:buSzPts val="2200"/>
              <a:buNone/>
            </a:pPr>
            <a:endParaRPr lang="en-US" sz="2000" dirty="0"/>
          </a:p>
          <a:p>
            <a:pPr marL="228600" indent="-228600" algn="ctr">
              <a:spcBef>
                <a:spcPts val="0"/>
              </a:spcBef>
              <a:buSzPts val="2200"/>
            </a:pPr>
            <a:r>
              <a:rPr lang="en-US" sz="2000" dirty="0"/>
              <a:t>SEI CERT C++ Coding Standard | CERT Secure Coding. (2016). In </a:t>
            </a:r>
            <a:r>
              <a:rPr lang="en-US" sz="2000" i="1" dirty="0"/>
              <a:t>Github.io</a:t>
            </a:r>
            <a:r>
              <a:rPr lang="en-US" sz="2000" dirty="0"/>
              <a:t>. </a:t>
            </a:r>
            <a:r>
              <a:rPr lang="en-US" sz="2000" dirty="0">
                <a:hlinkClick r:id="rId5"/>
              </a:rPr>
              <a:t>https://cmu-sei.github.io/secure-coding-standards/sei-cert-cpp-coding-standard/</a:t>
            </a:r>
            <a:endParaRPr lang="en-US" sz="2000" dirty="0"/>
          </a:p>
          <a:p>
            <a:pPr marL="0" indent="0" algn="ctr">
              <a:spcBef>
                <a:spcPts val="0"/>
              </a:spcBef>
              <a:buSzPts val="2200"/>
              <a:buNone/>
            </a:pPr>
            <a:endParaRPr lang="en-US" sz="2000" dirty="0"/>
          </a:p>
          <a:p>
            <a:pPr marL="228600" indent="-228600" algn="ctr">
              <a:spcBef>
                <a:spcPts val="0"/>
              </a:spcBef>
              <a:buSzPts val="2200"/>
            </a:pPr>
            <a:r>
              <a:rPr lang="en-US" sz="2000" dirty="0" err="1"/>
              <a:t>GoogleTest</a:t>
            </a:r>
            <a:r>
              <a:rPr lang="en-US" sz="2000" dirty="0"/>
              <a:t> Primer. (n.d.). In </a:t>
            </a:r>
            <a:r>
              <a:rPr lang="en-US" sz="2000" i="1" dirty="0" err="1"/>
              <a:t>GoogleTest</a:t>
            </a:r>
            <a:r>
              <a:rPr lang="en-US" sz="2000" dirty="0"/>
              <a:t>. Retrieved August 16, 2026, from </a:t>
            </a:r>
            <a:r>
              <a:rPr lang="en-US" sz="2000" dirty="0">
                <a:hlinkClick r:id="rId6"/>
              </a:rPr>
              <a:t>https://google.github.io/googletest/primer.html</a:t>
            </a:r>
            <a:endParaRPr lang="en-US" sz="2000" dirty="0"/>
          </a:p>
          <a:p>
            <a:pPr marL="0" indent="0" algn="ctr">
              <a:spcBef>
                <a:spcPts val="0"/>
              </a:spcBef>
              <a:buSzPts val="2200"/>
              <a:buNone/>
            </a:pPr>
            <a:endParaRPr lang="en-US" sz="2000" dirty="0"/>
          </a:p>
          <a:p>
            <a:pPr marL="228600" indent="-228600" algn="ctr">
              <a:spcBef>
                <a:spcPts val="0"/>
              </a:spcBef>
              <a:buSzPts val="2200"/>
            </a:pPr>
            <a:r>
              <a:rPr lang="en-US" sz="2000" i="1" dirty="0" err="1"/>
              <a:t>CodeQL</a:t>
            </a:r>
            <a:r>
              <a:rPr lang="en-US" sz="2000" i="1" dirty="0"/>
              <a:t> query help — </a:t>
            </a:r>
            <a:r>
              <a:rPr lang="en-US" sz="2000" i="1" dirty="0" err="1"/>
              <a:t>CodeQL</a:t>
            </a:r>
            <a:r>
              <a:rPr lang="en-US" sz="2000" i="1" dirty="0"/>
              <a:t> query help documentation</a:t>
            </a:r>
            <a:r>
              <a:rPr lang="en-US" sz="2000" dirty="0"/>
              <a:t>. (2026). </a:t>
            </a:r>
            <a:r>
              <a:rPr lang="en-US" sz="2000" dirty="0" err="1"/>
              <a:t>Github.Com</a:t>
            </a:r>
            <a:r>
              <a:rPr lang="en-US" sz="2000" dirty="0"/>
              <a:t>. </a:t>
            </a:r>
            <a:r>
              <a:rPr lang="en-US" sz="2000" dirty="0">
                <a:hlinkClick r:id="rId7"/>
              </a:rPr>
              <a:t>https://codeql.github.com/codeql-query-help/</a:t>
            </a:r>
            <a:endParaRPr lang="en-US" sz="2000" dirty="0"/>
          </a:p>
          <a:p>
            <a:pPr marL="0" indent="0" algn="ctr">
              <a:spcBef>
                <a:spcPts val="0"/>
              </a:spcBef>
              <a:buSzPts val="2200"/>
              <a:buNone/>
            </a:pPr>
            <a:endParaRPr lang="en-US" sz="2000" dirty="0"/>
          </a:p>
          <a:p>
            <a:pPr marL="228600" indent="-228600" algn="ctr">
              <a:spcBef>
                <a:spcPts val="0"/>
              </a:spcBef>
              <a:buSzPts val="2200"/>
            </a:pPr>
            <a:r>
              <a:rPr lang="en-US" sz="2000" dirty="0" err="1"/>
              <a:t>TylerMSFT</a:t>
            </a:r>
            <a:r>
              <a:rPr lang="en-US" sz="2000" dirty="0"/>
              <a:t>. (2026, January 15). </a:t>
            </a:r>
            <a:r>
              <a:rPr lang="en-US" sz="2000" i="1" dirty="0"/>
              <a:t>Configure code analysis and error list options for C and C++ - Visual Studio (Windows)</a:t>
            </a:r>
            <a:r>
              <a:rPr lang="en-US" sz="2000" dirty="0"/>
              <a:t>. </a:t>
            </a:r>
            <a:r>
              <a:rPr lang="en-US" sz="2000" dirty="0" err="1"/>
              <a:t>MicrosoftLearn</a:t>
            </a:r>
            <a:r>
              <a:rPr lang="en-US" sz="2000" dirty="0"/>
              <a:t>. </a:t>
            </a:r>
            <a:r>
              <a:rPr lang="en-US" sz="2000" dirty="0">
                <a:hlinkClick r:id="rId8"/>
              </a:rPr>
              <a:t>https://learn.microsoft.com/en-us/visualstudio/ide/configure-c-cpp-advanced-options?view=visualstudio</a:t>
            </a:r>
            <a:endParaRPr lang="en-US" sz="2000" dirty="0"/>
          </a:p>
          <a:p>
            <a:pPr marL="228600" indent="-228600" algn="ctr">
              <a:spcBef>
                <a:spcPts val="0"/>
              </a:spcBef>
              <a:buSzPts val="2200"/>
            </a:pPr>
            <a:endParaRPr lang="en-US" sz="2000" dirty="0"/>
          </a:p>
          <a:p>
            <a:pPr marL="228600" lvl="0" indent="-228600" algn="ctr" rtl="0">
              <a:lnSpc>
                <a:spcPct val="90000"/>
              </a:lnSpc>
              <a:spcBef>
                <a:spcPts val="0"/>
              </a:spcBef>
              <a:spcAft>
                <a:spcPts val="0"/>
              </a:spcAft>
              <a:buClr>
                <a:schemeClr val="lt1"/>
              </a:buClr>
              <a:buSzPts val="2200"/>
              <a:buChar char="•"/>
            </a:pPr>
            <a:endParaRPr dirty="0"/>
          </a:p>
        </p:txBody>
      </p:sp>
      <p:pic>
        <p:nvPicPr>
          <p:cNvPr id="239" name="Google Shape;239;p14" descr="Green Pace logo"/>
          <p:cNvPicPr preferRelativeResize="0"/>
          <p:nvPr/>
        </p:nvPicPr>
        <p:blipFill>
          <a:blip r:embed="rId9">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customXml/itemProps2.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3.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123</TotalTime>
  <Words>1239</Words>
  <Application>Microsoft Office PowerPoint</Application>
  <PresentationFormat>Widescreen</PresentationFormat>
  <Paragraphs>230</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Cascadia Mono</vt:lpstr>
      <vt:lpstr>Arial</vt:lpstr>
      <vt:lpstr>Century Gothic</vt:lpstr>
      <vt:lpstr>Vapor Trail</vt:lpstr>
      <vt:lpstr>Green Pace</vt:lpstr>
      <vt:lpstr>OVERVIEW: DEFENSE IN DEPTH</vt:lpstr>
      <vt:lpstr>THREATS MATRIX</vt:lpstr>
      <vt:lpstr>10 PRINCIPLES</vt:lpstr>
      <vt:lpstr>CODING STANDARDS</vt:lpstr>
      <vt:lpstr>ENCRYPTION POLICIES</vt:lpstr>
      <vt:lpstr>TRIPLE-A POLICIES</vt:lpstr>
      <vt:lpstr>Can a Value Be Added to an Empty Vector?</vt:lpstr>
      <vt:lpstr>Can the Vector Safely Resize to a Larger Size?</vt:lpstr>
      <vt:lpstr>Does Clear Remove All Elements from the Vector?</vt:lpstr>
      <vt:lpstr>Does an Invalid Index Throw an Exception on an Empty Vector?</vt:lpstr>
      <vt:lpstr>Does Accessing Past the Upper Boundary Throw an Exception?</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Purdy, Jordan</cp:lastModifiedBy>
  <cp:revision>7</cp:revision>
  <dcterms:created xsi:type="dcterms:W3CDTF">2020-08-19T17:59:24Z</dcterms:created>
  <dcterms:modified xsi:type="dcterms:W3CDTF">2026-08-16T20:31:46Z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